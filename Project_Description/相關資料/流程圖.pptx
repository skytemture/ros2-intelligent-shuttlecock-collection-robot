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4660"/>
  </p:normalViewPr>
  <p:slideViewPr>
    <p:cSldViewPr snapToGrid="0">
      <p:cViewPr>
        <p:scale>
          <a:sx n="50" d="100"/>
          <a:sy n="50" d="100"/>
        </p:scale>
        <p:origin x="3036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804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529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41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56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85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36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75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62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273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07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93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3A0A0-6EAB-41F7-BF9D-7E25F57F9BB8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FA553-66D3-42A3-94E2-2D09B00B82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323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1809A7-FB10-AB6F-7A35-FA461A257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8" y="430545"/>
            <a:ext cx="5829300" cy="826715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系統流程圖</a:t>
            </a:r>
          </a:p>
        </p:txBody>
      </p:sp>
      <p:sp>
        <p:nvSpPr>
          <p:cNvPr id="7" name="流程圖: 結束點 6">
            <a:extLst>
              <a:ext uri="{FF2B5EF4-FFF2-40B4-BE49-F238E27FC236}">
                <a16:creationId xmlns:a16="http://schemas.microsoft.com/office/drawing/2014/main" id="{491B59CB-8912-9CFF-7F88-16701648E64B}"/>
              </a:ext>
            </a:extLst>
          </p:cNvPr>
          <p:cNvSpPr/>
          <p:nvPr/>
        </p:nvSpPr>
        <p:spPr>
          <a:xfrm>
            <a:off x="2640724" y="1995314"/>
            <a:ext cx="1576552" cy="59909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</a:p>
        </p:txBody>
      </p:sp>
      <p:sp>
        <p:nvSpPr>
          <p:cNvPr id="8" name="流程圖: 結束點 7">
            <a:extLst>
              <a:ext uri="{FF2B5EF4-FFF2-40B4-BE49-F238E27FC236}">
                <a16:creationId xmlns:a16="http://schemas.microsoft.com/office/drawing/2014/main" id="{9D0E5003-D666-D169-60EA-072CCC30107F}"/>
              </a:ext>
            </a:extLst>
          </p:cNvPr>
          <p:cNvSpPr/>
          <p:nvPr/>
        </p:nvSpPr>
        <p:spPr>
          <a:xfrm>
            <a:off x="2657015" y="10196686"/>
            <a:ext cx="1576552" cy="59909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sp>
        <p:nvSpPr>
          <p:cNvPr id="9" name="流程圖: 決策 8">
            <a:extLst>
              <a:ext uri="{FF2B5EF4-FFF2-40B4-BE49-F238E27FC236}">
                <a16:creationId xmlns:a16="http://schemas.microsoft.com/office/drawing/2014/main" id="{8A4FC8D9-75D6-EA4B-519C-E94551DC8CA9}"/>
              </a:ext>
            </a:extLst>
          </p:cNvPr>
          <p:cNvSpPr/>
          <p:nvPr/>
        </p:nvSpPr>
        <p:spPr>
          <a:xfrm>
            <a:off x="2640724" y="3107758"/>
            <a:ext cx="1576552" cy="826715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自動手動</a:t>
            </a:r>
          </a:p>
        </p:txBody>
      </p:sp>
      <p:sp>
        <p:nvSpPr>
          <p:cNvPr id="18" name="流程圖: 程序 17">
            <a:extLst>
              <a:ext uri="{FF2B5EF4-FFF2-40B4-BE49-F238E27FC236}">
                <a16:creationId xmlns:a16="http://schemas.microsoft.com/office/drawing/2014/main" id="{E41732B3-ACC5-F3F5-54C8-75B05774462A}"/>
              </a:ext>
            </a:extLst>
          </p:cNvPr>
          <p:cNvSpPr/>
          <p:nvPr/>
        </p:nvSpPr>
        <p:spPr>
          <a:xfrm>
            <a:off x="4595663" y="4310370"/>
            <a:ext cx="1361747" cy="82671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使用遙控器進行移動</a:t>
            </a:r>
          </a:p>
        </p:txBody>
      </p:sp>
      <p:sp>
        <p:nvSpPr>
          <p:cNvPr id="20" name="流程圖: 決策 19">
            <a:extLst>
              <a:ext uri="{FF2B5EF4-FFF2-40B4-BE49-F238E27FC236}">
                <a16:creationId xmlns:a16="http://schemas.microsoft.com/office/drawing/2014/main" id="{2F61ACC0-3950-2B07-6320-01758F2C4E8C}"/>
              </a:ext>
            </a:extLst>
          </p:cNvPr>
          <p:cNvSpPr/>
          <p:nvPr/>
        </p:nvSpPr>
        <p:spPr>
          <a:xfrm>
            <a:off x="1251639" y="4292161"/>
            <a:ext cx="1576552" cy="826715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檢查地圖</a:t>
            </a:r>
          </a:p>
        </p:txBody>
      </p:sp>
      <p:sp>
        <p:nvSpPr>
          <p:cNvPr id="21" name="流程圖: 儲存資料 20">
            <a:extLst>
              <a:ext uri="{FF2B5EF4-FFF2-40B4-BE49-F238E27FC236}">
                <a16:creationId xmlns:a16="http://schemas.microsoft.com/office/drawing/2014/main" id="{3A84E993-66A8-E144-5FED-2686C59ACC3B}"/>
              </a:ext>
            </a:extLst>
          </p:cNvPr>
          <p:cNvSpPr/>
          <p:nvPr/>
        </p:nvSpPr>
        <p:spPr>
          <a:xfrm>
            <a:off x="2908736" y="8022316"/>
            <a:ext cx="1040524" cy="599090"/>
          </a:xfrm>
          <a:prstGeom prst="flowChartOnlineStorag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地圖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流程圖: 決策 21">
            <a:extLst>
              <a:ext uri="{FF2B5EF4-FFF2-40B4-BE49-F238E27FC236}">
                <a16:creationId xmlns:a16="http://schemas.microsoft.com/office/drawing/2014/main" id="{3FC6249D-7E6F-46A1-9D91-4FCD1D0ED109}"/>
              </a:ext>
            </a:extLst>
          </p:cNvPr>
          <p:cNvSpPr/>
          <p:nvPr/>
        </p:nvSpPr>
        <p:spPr>
          <a:xfrm>
            <a:off x="4506562" y="6574226"/>
            <a:ext cx="1576552" cy="826715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繪製地圖</a:t>
            </a:r>
          </a:p>
        </p:txBody>
      </p:sp>
      <p:sp>
        <p:nvSpPr>
          <p:cNvPr id="23" name="流程圖: 程序 22">
            <a:extLst>
              <a:ext uri="{FF2B5EF4-FFF2-40B4-BE49-F238E27FC236}">
                <a16:creationId xmlns:a16="http://schemas.microsoft.com/office/drawing/2014/main" id="{FB159456-0CDF-82EC-7C79-D1D625AF07D0}"/>
              </a:ext>
            </a:extLst>
          </p:cNvPr>
          <p:cNvSpPr/>
          <p:nvPr/>
        </p:nvSpPr>
        <p:spPr>
          <a:xfrm>
            <a:off x="2828191" y="5313282"/>
            <a:ext cx="1201615" cy="64803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探索移動</a:t>
            </a:r>
          </a:p>
        </p:txBody>
      </p:sp>
      <p:sp>
        <p:nvSpPr>
          <p:cNvPr id="24" name="流程圖: 程序 23">
            <a:extLst>
              <a:ext uri="{FF2B5EF4-FFF2-40B4-BE49-F238E27FC236}">
                <a16:creationId xmlns:a16="http://schemas.microsoft.com/office/drawing/2014/main" id="{8B5553C5-9E39-3A6B-6BDF-C43FCCFEC57A}"/>
              </a:ext>
            </a:extLst>
          </p:cNvPr>
          <p:cNvSpPr/>
          <p:nvPr/>
        </p:nvSpPr>
        <p:spPr>
          <a:xfrm>
            <a:off x="2822022" y="6674368"/>
            <a:ext cx="1201615" cy="64803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繪製地圖</a:t>
            </a:r>
          </a:p>
        </p:txBody>
      </p:sp>
      <p:sp>
        <p:nvSpPr>
          <p:cNvPr id="25" name="流程圖: 程序 24">
            <a:extLst>
              <a:ext uri="{FF2B5EF4-FFF2-40B4-BE49-F238E27FC236}">
                <a16:creationId xmlns:a16="http://schemas.microsoft.com/office/drawing/2014/main" id="{7A46E89A-B098-EB95-D24B-AD2D929D386F}"/>
              </a:ext>
            </a:extLst>
          </p:cNvPr>
          <p:cNvSpPr/>
          <p:nvPr/>
        </p:nvSpPr>
        <p:spPr>
          <a:xfrm>
            <a:off x="284687" y="5326420"/>
            <a:ext cx="1201615" cy="64803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規劃路徑</a:t>
            </a:r>
          </a:p>
        </p:txBody>
      </p:sp>
      <p:sp>
        <p:nvSpPr>
          <p:cNvPr id="26" name="流程圖: 程序 25">
            <a:extLst>
              <a:ext uri="{FF2B5EF4-FFF2-40B4-BE49-F238E27FC236}">
                <a16:creationId xmlns:a16="http://schemas.microsoft.com/office/drawing/2014/main" id="{C3E7E7C3-8A9A-02A7-883B-0A8FF12F8428}"/>
              </a:ext>
            </a:extLst>
          </p:cNvPr>
          <p:cNvSpPr/>
          <p:nvPr/>
        </p:nvSpPr>
        <p:spPr>
          <a:xfrm>
            <a:off x="290850" y="6674368"/>
            <a:ext cx="1201615" cy="648035"/>
          </a:xfrm>
          <a:prstGeom prst="flowChart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巡邏蒐集</a:t>
            </a:r>
          </a:p>
        </p:txBody>
      </p: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493C3682-F1AB-763A-2795-C4FEA42B4F70}"/>
              </a:ext>
            </a:extLst>
          </p:cNvPr>
          <p:cNvCxnSpPr>
            <a:cxnSpLocks/>
            <a:stCxn id="9" idx="3"/>
            <a:endCxn id="18" idx="0"/>
          </p:cNvCxnSpPr>
          <p:nvPr/>
        </p:nvCxnSpPr>
        <p:spPr>
          <a:xfrm>
            <a:off x="4217276" y="3521116"/>
            <a:ext cx="1059261" cy="78925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F96E53A3-853D-802E-7BDE-3D6963233958}"/>
              </a:ext>
            </a:extLst>
          </p:cNvPr>
          <p:cNvCxnSpPr>
            <a:cxnSpLocks/>
            <a:stCxn id="9" idx="1"/>
            <a:endCxn id="20" idx="0"/>
          </p:cNvCxnSpPr>
          <p:nvPr/>
        </p:nvCxnSpPr>
        <p:spPr>
          <a:xfrm rot="10800000" flipV="1">
            <a:off x="2039916" y="3521115"/>
            <a:ext cx="600809" cy="771045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21B3C541-BFA4-0D2C-95C6-FCF894E09D46}"/>
              </a:ext>
            </a:extLst>
          </p:cNvPr>
          <p:cNvCxnSpPr>
            <a:cxnSpLocks/>
            <a:stCxn id="20" idx="3"/>
            <a:endCxn id="23" idx="0"/>
          </p:cNvCxnSpPr>
          <p:nvPr/>
        </p:nvCxnSpPr>
        <p:spPr>
          <a:xfrm>
            <a:off x="2828191" y="4705519"/>
            <a:ext cx="600808" cy="60776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CE55F0D4-86B5-27E2-3B0B-DD8FCD02AEED}"/>
              </a:ext>
            </a:extLst>
          </p:cNvPr>
          <p:cNvCxnSpPr>
            <a:cxnSpLocks/>
            <a:stCxn id="20" idx="1"/>
            <a:endCxn id="25" idx="0"/>
          </p:cNvCxnSpPr>
          <p:nvPr/>
        </p:nvCxnSpPr>
        <p:spPr>
          <a:xfrm rot="10800000" flipV="1">
            <a:off x="885495" y="4705518"/>
            <a:ext cx="366144" cy="62090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344C7AF4-3367-020D-C55A-3A302754DBA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3422830" y="5961317"/>
            <a:ext cx="6169" cy="7130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30FD1E1E-7213-CD50-2BCE-6D9FEBFB1AD2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5276537" y="5137085"/>
            <a:ext cx="18301" cy="14371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6E5D42B2-392D-E45B-480B-8A472CB1B22D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885495" y="5974455"/>
            <a:ext cx="6163" cy="699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C7F2B51E-9C94-36D3-6CCF-664985797F22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4023637" y="6987584"/>
            <a:ext cx="482925" cy="108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1CF842F8-9C63-FB75-7FA8-56B0E1150A58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>
            <a:off x="3422830" y="7322403"/>
            <a:ext cx="6168" cy="699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接點: 肘形 74">
            <a:extLst>
              <a:ext uri="{FF2B5EF4-FFF2-40B4-BE49-F238E27FC236}">
                <a16:creationId xmlns:a16="http://schemas.microsoft.com/office/drawing/2014/main" id="{AB016750-97BA-4C1A-8B0D-A47EE5260433}"/>
              </a:ext>
            </a:extLst>
          </p:cNvPr>
          <p:cNvCxnSpPr>
            <a:cxnSpLocks/>
            <a:stCxn id="26" idx="2"/>
            <a:endCxn id="21" idx="1"/>
          </p:cNvCxnSpPr>
          <p:nvPr/>
        </p:nvCxnSpPr>
        <p:spPr>
          <a:xfrm rot="16200000" flipH="1">
            <a:off x="1400468" y="6813593"/>
            <a:ext cx="999458" cy="201707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5C734CC0-FDD3-33C7-B330-1931ECF54A8B}"/>
              </a:ext>
            </a:extLst>
          </p:cNvPr>
          <p:cNvCxnSpPr>
            <a:cxnSpLocks/>
            <a:stCxn id="21" idx="2"/>
            <a:endCxn id="8" idx="0"/>
          </p:cNvCxnSpPr>
          <p:nvPr/>
        </p:nvCxnSpPr>
        <p:spPr>
          <a:xfrm>
            <a:off x="3428998" y="8621406"/>
            <a:ext cx="16293" cy="15752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接點: 肘形 81">
            <a:extLst>
              <a:ext uri="{FF2B5EF4-FFF2-40B4-BE49-F238E27FC236}">
                <a16:creationId xmlns:a16="http://schemas.microsoft.com/office/drawing/2014/main" id="{DE2B41FF-CED4-99B5-7BAC-BB3CFE183EA4}"/>
              </a:ext>
            </a:extLst>
          </p:cNvPr>
          <p:cNvCxnSpPr>
            <a:cxnSpLocks/>
          </p:cNvCxnSpPr>
          <p:nvPr/>
        </p:nvCxnSpPr>
        <p:spPr>
          <a:xfrm flipH="1">
            <a:off x="3446475" y="6979464"/>
            <a:ext cx="2573570" cy="2421462"/>
          </a:xfrm>
          <a:prstGeom prst="bentConnector3">
            <a:avLst>
              <a:gd name="adj1" fmla="val -888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F046D14E-AE47-9BD4-3599-99606B358D85}"/>
              </a:ext>
            </a:extLst>
          </p:cNvPr>
          <p:cNvSpPr txBox="1"/>
          <p:nvPr/>
        </p:nvSpPr>
        <p:spPr>
          <a:xfrm>
            <a:off x="4846998" y="3060592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手動</a:t>
            </a: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B01C8A6E-52EA-3612-98BC-CA012C321F85}"/>
              </a:ext>
            </a:extLst>
          </p:cNvPr>
          <p:cNvSpPr txBox="1"/>
          <p:nvPr/>
        </p:nvSpPr>
        <p:spPr>
          <a:xfrm>
            <a:off x="1745045" y="3056030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自動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5D74E7D0-2DAE-CFF4-809E-68F3934B8A92}"/>
              </a:ext>
            </a:extLst>
          </p:cNvPr>
          <p:cNvSpPr txBox="1"/>
          <p:nvPr/>
        </p:nvSpPr>
        <p:spPr>
          <a:xfrm>
            <a:off x="2969509" y="4233198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E2D5D95D-3457-2B77-1EE8-653841BC3296}"/>
              </a:ext>
            </a:extLst>
          </p:cNvPr>
          <p:cNvSpPr txBox="1"/>
          <p:nvPr/>
        </p:nvSpPr>
        <p:spPr>
          <a:xfrm>
            <a:off x="662481" y="4233198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069C0206-F9DC-7BC5-F25E-60113866B198}"/>
              </a:ext>
            </a:extLst>
          </p:cNvPr>
          <p:cNvSpPr txBox="1"/>
          <p:nvPr/>
        </p:nvSpPr>
        <p:spPr>
          <a:xfrm>
            <a:off x="6038704" y="6544887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F54586FA-EA46-A216-AD64-569846B263D0}"/>
              </a:ext>
            </a:extLst>
          </p:cNvPr>
          <p:cNvSpPr txBox="1"/>
          <p:nvPr/>
        </p:nvSpPr>
        <p:spPr>
          <a:xfrm>
            <a:off x="4181962" y="6544887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7A354BAB-52FC-2198-EA72-571CF83027A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429000" y="2594404"/>
            <a:ext cx="0" cy="5133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0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4A75-0DB6-02BC-F78E-44914966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7B36E-6D1A-94A0-86F8-1EFCC0922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8" y="430545"/>
            <a:ext cx="5829300" cy="826715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手動模式流程圖</a:t>
            </a:r>
          </a:p>
        </p:txBody>
      </p:sp>
      <p:sp>
        <p:nvSpPr>
          <p:cNvPr id="4" name="流程圖: 結束點 3">
            <a:extLst>
              <a:ext uri="{FF2B5EF4-FFF2-40B4-BE49-F238E27FC236}">
                <a16:creationId xmlns:a16="http://schemas.microsoft.com/office/drawing/2014/main" id="{F9328A64-60AD-C774-30C8-FEAF25A594D3}"/>
              </a:ext>
            </a:extLst>
          </p:cNvPr>
          <p:cNvSpPr/>
          <p:nvPr/>
        </p:nvSpPr>
        <p:spPr>
          <a:xfrm>
            <a:off x="2667000" y="1435100"/>
            <a:ext cx="1485900" cy="58420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程式開始</a:t>
            </a:r>
          </a:p>
        </p:txBody>
      </p:sp>
    </p:spTree>
    <p:extLst>
      <p:ext uri="{BB962C8B-B14F-4D97-AF65-F5344CB8AC3E}">
        <p14:creationId xmlns:p14="http://schemas.microsoft.com/office/powerpoint/2010/main" val="404676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4772-B7CE-EB12-E707-9D8D8EE6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6F088-D4A5-0564-C89F-538ADB54B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8" y="430545"/>
            <a:ext cx="5829300" cy="826715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自動探索模式流程圖</a:t>
            </a:r>
          </a:p>
        </p:txBody>
      </p:sp>
      <p:sp>
        <p:nvSpPr>
          <p:cNvPr id="3" name="流程圖: 結束點 2">
            <a:extLst>
              <a:ext uri="{FF2B5EF4-FFF2-40B4-BE49-F238E27FC236}">
                <a16:creationId xmlns:a16="http://schemas.microsoft.com/office/drawing/2014/main" id="{054459AB-551D-159F-2862-1E6BEDC7D8F6}"/>
              </a:ext>
            </a:extLst>
          </p:cNvPr>
          <p:cNvSpPr/>
          <p:nvPr/>
        </p:nvSpPr>
        <p:spPr>
          <a:xfrm>
            <a:off x="2667000" y="1435100"/>
            <a:ext cx="1485900" cy="58420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程式開始</a:t>
            </a:r>
          </a:p>
        </p:txBody>
      </p:sp>
    </p:spTree>
    <p:extLst>
      <p:ext uri="{BB962C8B-B14F-4D97-AF65-F5344CB8AC3E}">
        <p14:creationId xmlns:p14="http://schemas.microsoft.com/office/powerpoint/2010/main" val="3383547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09DB-5B80-0116-EE4D-36B0D5E5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C070B-4CE2-CAE5-F5DA-859422743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8" y="430545"/>
            <a:ext cx="5829300" cy="82671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STM32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架構圖</a:t>
            </a:r>
          </a:p>
        </p:txBody>
      </p:sp>
      <p:sp>
        <p:nvSpPr>
          <p:cNvPr id="3" name="流程圖: 結束點 2">
            <a:extLst>
              <a:ext uri="{FF2B5EF4-FFF2-40B4-BE49-F238E27FC236}">
                <a16:creationId xmlns:a16="http://schemas.microsoft.com/office/drawing/2014/main" id="{A192A86C-6F5B-B6E2-9010-0C203C8017C1}"/>
              </a:ext>
            </a:extLst>
          </p:cNvPr>
          <p:cNvSpPr/>
          <p:nvPr/>
        </p:nvSpPr>
        <p:spPr>
          <a:xfrm>
            <a:off x="2723820" y="1431625"/>
            <a:ext cx="1485900" cy="58420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程式開始</a:t>
            </a:r>
          </a:p>
        </p:txBody>
      </p:sp>
      <p:sp>
        <p:nvSpPr>
          <p:cNvPr id="4" name="流程圖: 決策 3">
            <a:extLst>
              <a:ext uri="{FF2B5EF4-FFF2-40B4-BE49-F238E27FC236}">
                <a16:creationId xmlns:a16="http://schemas.microsoft.com/office/drawing/2014/main" id="{27FF22E1-CBA0-72E8-D098-BB59F91998CC}"/>
              </a:ext>
            </a:extLst>
          </p:cNvPr>
          <p:cNvSpPr/>
          <p:nvPr/>
        </p:nvSpPr>
        <p:spPr>
          <a:xfrm>
            <a:off x="2061997" y="3950998"/>
            <a:ext cx="2809547" cy="1024759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三段開關選擇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遙控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/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無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/UART</a:t>
            </a:r>
            <a:endParaRPr lang="zh-TW" altLang="en-US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C8B097-3877-ABC4-1898-F262A75A2AEE}"/>
              </a:ext>
            </a:extLst>
          </p:cNvPr>
          <p:cNvSpPr/>
          <p:nvPr/>
        </p:nvSpPr>
        <p:spPr>
          <a:xfrm>
            <a:off x="204952" y="5397106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USART2 (9600)</a:t>
            </a:r>
            <a:b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解讀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HC12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接收信號並解析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1E20E6-DB42-ED1D-0195-4415C88D6059}"/>
              </a:ext>
            </a:extLst>
          </p:cNvPr>
          <p:cNvSpPr/>
          <p:nvPr/>
        </p:nvSpPr>
        <p:spPr>
          <a:xfrm>
            <a:off x="204952" y="7143989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AT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指令進行交握</a:t>
            </a:r>
            <a:b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接收單一字元進行動作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A94D9C-59D1-AB0B-1F02-A34CBC314F02}"/>
              </a:ext>
            </a:extLst>
          </p:cNvPr>
          <p:cNvSpPr/>
          <p:nvPr/>
        </p:nvSpPr>
        <p:spPr>
          <a:xfrm>
            <a:off x="4108890" y="5397105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USART1 (115200)</a:t>
            </a:r>
            <a:b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Xavier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進行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TxRxGnd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連接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BB5828-73FA-1DFF-A385-8AE44B167CF8}"/>
              </a:ext>
            </a:extLst>
          </p:cNvPr>
          <p:cNvSpPr/>
          <p:nvPr/>
        </p:nvSpPr>
        <p:spPr>
          <a:xfrm>
            <a:off x="4108890" y="7195767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齊頭字符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”A”</a:t>
            </a:r>
            <a:b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</a:b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讀取後四位數字進行分析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7D9C97-738B-858D-9FAF-47C16589619C}"/>
              </a:ext>
            </a:extLst>
          </p:cNvPr>
          <p:cNvSpPr/>
          <p:nvPr/>
        </p:nvSpPr>
        <p:spPr>
          <a:xfrm>
            <a:off x="4108890" y="8891790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Timer4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設定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PWM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空佔比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0~9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編碼器馬達下達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PWM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指令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614677-F473-206A-38CC-ACF5BF6F9406}"/>
              </a:ext>
            </a:extLst>
          </p:cNvPr>
          <p:cNvSpPr/>
          <p:nvPr/>
        </p:nvSpPr>
        <p:spPr>
          <a:xfrm>
            <a:off x="2235747" y="2465314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設定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Timer2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3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負責讀取左右編碼器數值</a:t>
            </a:r>
          </a:p>
        </p:txBody>
      </p:sp>
      <p:sp>
        <p:nvSpPr>
          <p:cNvPr id="11" name="流程圖: 結束點 10">
            <a:extLst>
              <a:ext uri="{FF2B5EF4-FFF2-40B4-BE49-F238E27FC236}">
                <a16:creationId xmlns:a16="http://schemas.microsoft.com/office/drawing/2014/main" id="{4B1AAE1F-4D8D-2A5B-0768-8F25FD9392E6}"/>
              </a:ext>
            </a:extLst>
          </p:cNvPr>
          <p:cNvSpPr/>
          <p:nvPr/>
        </p:nvSpPr>
        <p:spPr>
          <a:xfrm>
            <a:off x="2708054" y="10813348"/>
            <a:ext cx="1576552" cy="59909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6EC758-2A3E-BF50-1CBF-61F5DAB2F6D9}"/>
              </a:ext>
            </a:extLst>
          </p:cNvPr>
          <p:cNvSpPr/>
          <p:nvPr/>
        </p:nvSpPr>
        <p:spPr>
          <a:xfrm>
            <a:off x="204952" y="8889992"/>
            <a:ext cx="2462048" cy="9616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Timer4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設定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PWM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空佔比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0~9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編碼器馬達下達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PWM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指令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96DEBAF-D200-1CBD-25F1-66C9CEF7C28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3466770" y="2015825"/>
            <a:ext cx="1" cy="4494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AA52DEC-1740-2BDE-2D26-9EAB0B102A75}"/>
              </a:ext>
            </a:extLst>
          </p:cNvPr>
          <p:cNvCxnSpPr>
            <a:cxnSpLocks/>
            <a:stCxn id="10" idx="2"/>
            <a:endCxn id="4" idx="0"/>
          </p:cNvCxnSpPr>
          <p:nvPr/>
        </p:nvCxnSpPr>
        <p:spPr>
          <a:xfrm>
            <a:off x="3466771" y="3427011"/>
            <a:ext cx="0" cy="5239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90B33A02-1892-61FA-0736-A29EDA0CED6C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1435977" y="4463378"/>
            <a:ext cx="626021" cy="9337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38F3B1BE-EDEF-743D-0A39-C4CB10A2E31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4871544" y="4463378"/>
            <a:ext cx="468370" cy="93372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786321A7-99FE-1ED1-9576-72E908CD7B3B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466771" y="4975757"/>
            <a:ext cx="29559" cy="58375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7DE189A1-5E48-ADAB-2126-7813F8F7A32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435976" y="6358803"/>
            <a:ext cx="0" cy="7851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B2E2D9F8-0F72-58CF-00D2-6B8916DA734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1435976" y="8105686"/>
            <a:ext cx="0" cy="7843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B207AC1F-EDA0-3DE0-64A0-0F60262E596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339914" y="6358802"/>
            <a:ext cx="0" cy="836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7C033EC9-7541-7FA8-0ED6-B6146A8E95B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339914" y="8157464"/>
            <a:ext cx="0" cy="734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F929ACE6-E854-AEE9-7F04-78564B3E499D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2225671" y="9061993"/>
            <a:ext cx="522021" cy="2101411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ABECBE63-6A02-1995-FA22-AF425C87A5B2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4178540" y="9212335"/>
            <a:ext cx="520222" cy="1802527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791AEC95-4446-B26A-A974-D1B98C3B2973}"/>
              </a:ext>
            </a:extLst>
          </p:cNvPr>
          <p:cNvSpPr txBox="1"/>
          <p:nvPr/>
        </p:nvSpPr>
        <p:spPr>
          <a:xfrm>
            <a:off x="1166318" y="3950997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遙控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A675E1D-82D0-81E0-39EE-CC9FF40E59AA}"/>
              </a:ext>
            </a:extLst>
          </p:cNvPr>
          <p:cNvSpPr txBox="1"/>
          <p:nvPr/>
        </p:nvSpPr>
        <p:spPr>
          <a:xfrm>
            <a:off x="4977632" y="3950997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UART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5A3E693-8BE2-3ACC-28D9-67A9A8837638}"/>
              </a:ext>
            </a:extLst>
          </p:cNvPr>
          <p:cNvSpPr txBox="1"/>
          <p:nvPr/>
        </p:nvSpPr>
        <p:spPr>
          <a:xfrm>
            <a:off x="3009576" y="5027773"/>
            <a:ext cx="54752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無</a:t>
            </a:r>
          </a:p>
        </p:txBody>
      </p:sp>
    </p:spTree>
    <p:extLst>
      <p:ext uri="{BB962C8B-B14F-4D97-AF65-F5344CB8AC3E}">
        <p14:creationId xmlns:p14="http://schemas.microsoft.com/office/powerpoint/2010/main" val="710495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AEDA-FD1D-E156-5DC7-B897AE56F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F6EF24-5D4E-8DC8-D4E4-02527A214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8" y="430545"/>
            <a:ext cx="5829300" cy="82671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Arial" panose="020B0604020202020204" pitchFamily="34" charset="0"/>
                <a:ea typeface="標楷體" panose="03000509000000000000" pitchFamily="65" charset="-120"/>
              </a:rPr>
              <a:t>Xavier</a:t>
            </a:r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架構圖</a:t>
            </a:r>
          </a:p>
        </p:txBody>
      </p:sp>
      <p:sp>
        <p:nvSpPr>
          <p:cNvPr id="3" name="流程圖: 結束點 2">
            <a:extLst>
              <a:ext uri="{FF2B5EF4-FFF2-40B4-BE49-F238E27FC236}">
                <a16:creationId xmlns:a16="http://schemas.microsoft.com/office/drawing/2014/main" id="{3DADC083-DFBA-4899-B287-FB8297BAA672}"/>
              </a:ext>
            </a:extLst>
          </p:cNvPr>
          <p:cNvSpPr/>
          <p:nvPr/>
        </p:nvSpPr>
        <p:spPr>
          <a:xfrm>
            <a:off x="2667000" y="1435100"/>
            <a:ext cx="1485900" cy="58420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程式開始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E857DF-F0B9-23B3-BDE2-FA272FE9C1A7}"/>
              </a:ext>
            </a:extLst>
          </p:cNvPr>
          <p:cNvSpPr/>
          <p:nvPr/>
        </p:nvSpPr>
        <p:spPr>
          <a:xfrm>
            <a:off x="842476" y="7300765"/>
            <a:ext cx="1898753" cy="7416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啟動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SLAM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套件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流程圖: 預設程序 4">
            <a:extLst>
              <a:ext uri="{FF2B5EF4-FFF2-40B4-BE49-F238E27FC236}">
                <a16:creationId xmlns:a16="http://schemas.microsoft.com/office/drawing/2014/main" id="{5567C338-7E7C-E56B-0387-7A7E46924DD7}"/>
              </a:ext>
            </a:extLst>
          </p:cNvPr>
          <p:cNvSpPr/>
          <p:nvPr/>
        </p:nvSpPr>
        <p:spPr>
          <a:xfrm>
            <a:off x="2178926" y="2319650"/>
            <a:ext cx="2462048" cy="961697"/>
          </a:xfrm>
          <a:prstGeom prst="flowChartPredefinedProces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啟動光達和深度攝像機驅動</a:t>
            </a:r>
          </a:p>
        </p:txBody>
      </p:sp>
      <p:sp>
        <p:nvSpPr>
          <p:cNvPr id="6" name="流程圖: 文件 5">
            <a:extLst>
              <a:ext uri="{FF2B5EF4-FFF2-40B4-BE49-F238E27FC236}">
                <a16:creationId xmlns:a16="http://schemas.microsoft.com/office/drawing/2014/main" id="{E94682B3-CF29-2C6E-A09C-65D5522EEF57}"/>
              </a:ext>
            </a:extLst>
          </p:cNvPr>
          <p:cNvSpPr/>
          <p:nvPr/>
        </p:nvSpPr>
        <p:spPr>
          <a:xfrm>
            <a:off x="2721814" y="4761446"/>
            <a:ext cx="1375539" cy="982225"/>
          </a:xfrm>
          <a:prstGeom prst="flowChartDocumen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讀取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yaml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及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pgm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地圖資訊</a:t>
            </a:r>
          </a:p>
        </p:txBody>
      </p:sp>
      <p:sp>
        <p:nvSpPr>
          <p:cNvPr id="7" name="流程圖: 決策 6">
            <a:extLst>
              <a:ext uri="{FF2B5EF4-FFF2-40B4-BE49-F238E27FC236}">
                <a16:creationId xmlns:a16="http://schemas.microsoft.com/office/drawing/2014/main" id="{73D03D75-B094-358D-6CD5-39021BA66DDE}"/>
              </a:ext>
            </a:extLst>
          </p:cNvPr>
          <p:cNvSpPr/>
          <p:nvPr/>
        </p:nvSpPr>
        <p:spPr>
          <a:xfrm>
            <a:off x="2702397" y="6041361"/>
            <a:ext cx="1414371" cy="741670"/>
          </a:xfrm>
          <a:prstGeom prst="flowChartDecisi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地圖存在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301D18-5D54-9622-B7F6-100279021A6A}"/>
              </a:ext>
            </a:extLst>
          </p:cNvPr>
          <p:cNvSpPr/>
          <p:nvPr/>
        </p:nvSpPr>
        <p:spPr>
          <a:xfrm>
            <a:off x="2296509" y="3586477"/>
            <a:ext cx="2226882" cy="8698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啟用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yolo_mark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、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serial_out</a:t>
            </a:r>
            <a:endParaRPr lang="zh-TW" altLang="en-US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D4D3A2-1D59-42C2-0711-9E7B667D3E05}"/>
              </a:ext>
            </a:extLst>
          </p:cNvPr>
          <p:cNvSpPr/>
          <p:nvPr/>
        </p:nvSpPr>
        <p:spPr>
          <a:xfrm>
            <a:off x="842476" y="8598064"/>
            <a:ext cx="1898753" cy="7416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啟動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yolo_patrol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控制探索輸出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452E9A-C31C-2F61-D72D-5494A25FF700}"/>
              </a:ext>
            </a:extLst>
          </p:cNvPr>
          <p:cNvSpPr/>
          <p:nvPr/>
        </p:nvSpPr>
        <p:spPr>
          <a:xfrm>
            <a:off x="4116769" y="7300765"/>
            <a:ext cx="1898753" cy="7416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啟動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NAV2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套件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A9B668-33A6-6FFD-6943-4362BC33B6C6}"/>
              </a:ext>
            </a:extLst>
          </p:cNvPr>
          <p:cNvSpPr/>
          <p:nvPr/>
        </p:nvSpPr>
        <p:spPr>
          <a:xfrm>
            <a:off x="4116768" y="8598064"/>
            <a:ext cx="1898753" cy="7416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調整套件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life_cycle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651847-F034-1E7D-EC1A-094A723552D3}"/>
              </a:ext>
            </a:extLst>
          </p:cNvPr>
          <p:cNvSpPr/>
          <p:nvPr/>
        </p:nvSpPr>
        <p:spPr>
          <a:xfrm>
            <a:off x="4116767" y="9857468"/>
            <a:ext cx="1898753" cy="7416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啟動</a:t>
            </a:r>
            <a:r>
              <a:rPr lang="en-US" altLang="zh-TW" sz="1400" dirty="0" err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nav_patrol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控制巡邏輸出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13" name="流程圖: 結束點 12">
            <a:extLst>
              <a:ext uri="{FF2B5EF4-FFF2-40B4-BE49-F238E27FC236}">
                <a16:creationId xmlns:a16="http://schemas.microsoft.com/office/drawing/2014/main" id="{45B93E21-22B6-E73F-37D9-12D09404F443}"/>
              </a:ext>
            </a:extLst>
          </p:cNvPr>
          <p:cNvSpPr/>
          <p:nvPr/>
        </p:nvSpPr>
        <p:spPr>
          <a:xfrm>
            <a:off x="2640722" y="11333611"/>
            <a:ext cx="1576552" cy="599090"/>
          </a:xfrm>
          <a:prstGeom prst="flowChartTerminato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B972121-015D-5E13-5873-F028AE36D459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3409950" y="2019300"/>
            <a:ext cx="0" cy="300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6A08936-A5DB-9676-C5E2-4C88FF5A1ECC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3409950" y="3281347"/>
            <a:ext cx="0" cy="305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圖: 儲存資料 20">
            <a:extLst>
              <a:ext uri="{FF2B5EF4-FFF2-40B4-BE49-F238E27FC236}">
                <a16:creationId xmlns:a16="http://schemas.microsoft.com/office/drawing/2014/main" id="{B35B10A2-87E4-A7B2-E3D4-1F82B6B9DF7C}"/>
              </a:ext>
            </a:extLst>
          </p:cNvPr>
          <p:cNvSpPr/>
          <p:nvPr/>
        </p:nvSpPr>
        <p:spPr>
          <a:xfrm>
            <a:off x="1271590" y="9928758"/>
            <a:ext cx="1040524" cy="599090"/>
          </a:xfrm>
          <a:prstGeom prst="flowChartOnlineStorag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地圖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9724583-B031-028A-99A8-F75E9FD3BE49}"/>
              </a:ext>
            </a:extLst>
          </p:cNvPr>
          <p:cNvCxnSpPr>
            <a:stCxn id="8" idx="2"/>
            <a:endCxn id="6" idx="0"/>
          </p:cNvCxnSpPr>
          <p:nvPr/>
        </p:nvCxnSpPr>
        <p:spPr>
          <a:xfrm flipH="1">
            <a:off x="3409584" y="4456316"/>
            <a:ext cx="366" cy="3051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BDFB892D-E306-DDAD-A6C2-FF146A7D6FD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3409583" y="5678735"/>
            <a:ext cx="1" cy="3626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64FCF818-9944-726E-6F3D-4AFD306FC4EA}"/>
              </a:ext>
            </a:extLst>
          </p:cNvPr>
          <p:cNvCxnSpPr>
            <a:stCxn id="7" idx="1"/>
            <a:endCxn id="4" idx="0"/>
          </p:cNvCxnSpPr>
          <p:nvPr/>
        </p:nvCxnSpPr>
        <p:spPr>
          <a:xfrm rot="10800000" flipV="1">
            <a:off x="1791853" y="6412195"/>
            <a:ext cx="910544" cy="88856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B8835D7C-8CC7-E6A4-F4E4-FEEDDDE138D6}"/>
              </a:ext>
            </a:extLst>
          </p:cNvPr>
          <p:cNvCxnSpPr>
            <a:stCxn id="7" idx="3"/>
            <a:endCxn id="10" idx="0"/>
          </p:cNvCxnSpPr>
          <p:nvPr/>
        </p:nvCxnSpPr>
        <p:spPr>
          <a:xfrm>
            <a:off x="4116768" y="6412196"/>
            <a:ext cx="949378" cy="88856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05AE37F-9599-3F67-664D-0AABDD4720BB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1791853" y="8042435"/>
            <a:ext cx="0" cy="555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91FCEE79-A912-B416-9D32-9D92EDB8989F}"/>
              </a:ext>
            </a:extLst>
          </p:cNvPr>
          <p:cNvCxnSpPr>
            <a:stCxn id="9" idx="2"/>
            <a:endCxn id="21" idx="0"/>
          </p:cNvCxnSpPr>
          <p:nvPr/>
        </p:nvCxnSpPr>
        <p:spPr>
          <a:xfrm flipH="1">
            <a:off x="1791852" y="9339734"/>
            <a:ext cx="1" cy="589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7C383FCC-4608-8C66-8376-EFB67989ECD5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5066145" y="8042435"/>
            <a:ext cx="1" cy="555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F525D631-60E1-64C3-41A7-C89035C600FF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flipH="1">
            <a:off x="5066144" y="9339734"/>
            <a:ext cx="1" cy="5177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0DD8EE78-15A9-D7E0-4757-6B7AE1FD4C6D}"/>
              </a:ext>
            </a:extLst>
          </p:cNvPr>
          <p:cNvCxnSpPr>
            <a:stCxn id="21" idx="2"/>
            <a:endCxn id="13" idx="0"/>
          </p:cNvCxnSpPr>
          <p:nvPr/>
        </p:nvCxnSpPr>
        <p:spPr>
          <a:xfrm rot="16200000" flipH="1">
            <a:off x="2207544" y="10112156"/>
            <a:ext cx="805763" cy="1637146"/>
          </a:xfrm>
          <a:prstGeom prst="bentConnector3">
            <a:avLst>
              <a:gd name="adj1" fmla="val 5756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BA32E307-9F81-D01F-4138-B379D03AE403}"/>
              </a:ext>
            </a:extLst>
          </p:cNvPr>
          <p:cNvCxnSpPr>
            <a:cxnSpLocks/>
          </p:cNvCxnSpPr>
          <p:nvPr/>
        </p:nvCxnSpPr>
        <p:spPr>
          <a:xfrm flipV="1">
            <a:off x="3428997" y="10596757"/>
            <a:ext cx="1637147" cy="396522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FC0DCFA3-345C-3892-5BA2-23B9A09CC8EC}"/>
              </a:ext>
            </a:extLst>
          </p:cNvPr>
          <p:cNvSpPr txBox="1"/>
          <p:nvPr/>
        </p:nvSpPr>
        <p:spPr>
          <a:xfrm>
            <a:off x="1547373" y="5911334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405A4F0-77B8-1DF1-6682-403A052A6041}"/>
              </a:ext>
            </a:extLst>
          </p:cNvPr>
          <p:cNvSpPr txBox="1"/>
          <p:nvPr/>
        </p:nvSpPr>
        <p:spPr>
          <a:xfrm>
            <a:off x="4862787" y="5911334"/>
            <a:ext cx="895679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Arial" panose="020B0604020202020204" pitchFamily="34" charset="0"/>
                <a:ea typeface="標楷體" panose="03000509000000000000" pitchFamily="65" charset="-120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2599851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530</TotalTime>
  <Words>196</Words>
  <Application>Microsoft Office PowerPoint</Application>
  <PresentationFormat>寬螢幕</PresentationFormat>
  <Paragraphs>54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微軟正黑體</vt:lpstr>
      <vt:lpstr>標楷體</vt:lpstr>
      <vt:lpstr>Arial</vt:lpstr>
      <vt:lpstr>Calibri</vt:lpstr>
      <vt:lpstr>Calibri Light</vt:lpstr>
      <vt:lpstr>Office 佈景主題</vt:lpstr>
      <vt:lpstr>系統流程圖</vt:lpstr>
      <vt:lpstr>手動模式流程圖</vt:lpstr>
      <vt:lpstr>自動探索模式流程圖</vt:lpstr>
      <vt:lpstr>STM32架構圖</vt:lpstr>
      <vt:lpstr>Xavier架構圖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系統流程圖</dc:title>
  <dc:creator>啟軒 高</dc:creator>
  <cp:lastModifiedBy>FE K</cp:lastModifiedBy>
  <cp:revision>16</cp:revision>
  <dcterms:created xsi:type="dcterms:W3CDTF">2025-08-31T11:09:20Z</dcterms:created>
  <dcterms:modified xsi:type="dcterms:W3CDTF">2025-11-21T11:25:03Z</dcterms:modified>
</cp:coreProperties>
</file>