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Lst>
  <p:sldSz cx="21383625" cy="302752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36" autoAdjust="0"/>
    <p:restoredTop sz="96336" autoAdjust="0"/>
  </p:normalViewPr>
  <p:slideViewPr>
    <p:cSldViewPr snapToGrid="0">
      <p:cViewPr>
        <p:scale>
          <a:sx n="33" d="100"/>
          <a:sy n="33" d="100"/>
        </p:scale>
        <p:origin x="2604" y="-15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1603772" y="4954765"/>
            <a:ext cx="18176081" cy="10540259"/>
          </a:xfrm>
        </p:spPr>
        <p:txBody>
          <a:bodyPr anchor="b"/>
          <a:lstStyle>
            <a:lvl1pPr algn="ctr">
              <a:defRPr sz="14031"/>
            </a:lvl1pPr>
          </a:lstStyle>
          <a:p>
            <a:r>
              <a:rPr lang="zh-TW" altLang="en-US"/>
              <a:t>按一下以編輯母片標題樣式</a:t>
            </a:r>
            <a:endParaRPr lang="en-US" dirty="0"/>
          </a:p>
        </p:txBody>
      </p:sp>
      <p:sp>
        <p:nvSpPr>
          <p:cNvPr id="3" name="Subtitle 2"/>
          <p:cNvSpPr>
            <a:spLocks noGrp="1"/>
          </p:cNvSpPr>
          <p:nvPr>
            <p:ph type="subTitle" idx="1"/>
          </p:nvPr>
        </p:nvSpPr>
        <p:spPr>
          <a:xfrm>
            <a:off x="2672953" y="15901497"/>
            <a:ext cx="16037719" cy="7309499"/>
          </a:xfrm>
        </p:spPr>
        <p:txBody>
          <a:bodyPr/>
          <a:lstStyle>
            <a:lvl1pPr marL="0" indent="0" algn="ctr">
              <a:buNone/>
              <a:defRPr sz="5612"/>
            </a:lvl1pPr>
            <a:lvl2pPr marL="1069162" indent="0" algn="ctr">
              <a:buNone/>
              <a:defRPr sz="4677"/>
            </a:lvl2pPr>
            <a:lvl3pPr marL="2138324" indent="0" algn="ctr">
              <a:buNone/>
              <a:defRPr sz="4209"/>
            </a:lvl3pPr>
            <a:lvl4pPr marL="3207487" indent="0" algn="ctr">
              <a:buNone/>
              <a:defRPr sz="3742"/>
            </a:lvl4pPr>
            <a:lvl5pPr marL="4276649" indent="0" algn="ctr">
              <a:buNone/>
              <a:defRPr sz="3742"/>
            </a:lvl5pPr>
            <a:lvl6pPr marL="5345811" indent="0" algn="ctr">
              <a:buNone/>
              <a:defRPr sz="3742"/>
            </a:lvl6pPr>
            <a:lvl7pPr marL="6414973" indent="0" algn="ctr">
              <a:buNone/>
              <a:defRPr sz="3742"/>
            </a:lvl7pPr>
            <a:lvl8pPr marL="7484135" indent="0" algn="ctr">
              <a:buNone/>
              <a:defRPr sz="3742"/>
            </a:lvl8pPr>
            <a:lvl9pPr marL="8553298" indent="0" algn="ctr">
              <a:buNone/>
              <a:defRPr sz="3742"/>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1009B51A-B237-4D78-A09B-34F4BE6D7B5F}" type="datetimeFigureOut">
              <a:rPr lang="zh-TW" altLang="en-US" smtClean="0"/>
              <a:t>2025/11/21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60844680-6CEA-4F4E-99B3-681428DE370B}" type="slidenum">
              <a:rPr lang="zh-TW" altLang="en-US" smtClean="0"/>
              <a:t>‹#›</a:t>
            </a:fld>
            <a:endParaRPr lang="zh-TW" altLang="en-US"/>
          </a:p>
        </p:txBody>
      </p:sp>
    </p:spTree>
    <p:extLst>
      <p:ext uri="{BB962C8B-B14F-4D97-AF65-F5344CB8AC3E}">
        <p14:creationId xmlns:p14="http://schemas.microsoft.com/office/powerpoint/2010/main" val="1102022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1009B51A-B237-4D78-A09B-34F4BE6D7B5F}" type="datetimeFigureOut">
              <a:rPr lang="zh-TW" altLang="en-US" smtClean="0"/>
              <a:t>2025/11/21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60844680-6CEA-4F4E-99B3-681428DE370B}" type="slidenum">
              <a:rPr lang="zh-TW" altLang="en-US" smtClean="0"/>
              <a:t>‹#›</a:t>
            </a:fld>
            <a:endParaRPr lang="zh-TW" altLang="en-US"/>
          </a:p>
        </p:txBody>
      </p:sp>
    </p:spTree>
    <p:extLst>
      <p:ext uri="{BB962C8B-B14F-4D97-AF65-F5344CB8AC3E}">
        <p14:creationId xmlns:p14="http://schemas.microsoft.com/office/powerpoint/2010/main" val="3391055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1458988" y="7547788"/>
            <a:ext cx="18443377" cy="12593645"/>
          </a:xfrm>
        </p:spPr>
        <p:txBody>
          <a:bodyPr anchor="b"/>
          <a:lstStyle>
            <a:lvl1pPr>
              <a:defRPr sz="14031"/>
            </a:lvl1pPr>
          </a:lstStyle>
          <a:p>
            <a:r>
              <a:rPr lang="zh-TW" altLang="en-US"/>
              <a:t>按一下以編輯母片標題樣式</a:t>
            </a:r>
            <a:endParaRPr lang="en-US" dirty="0"/>
          </a:p>
        </p:txBody>
      </p:sp>
      <p:sp>
        <p:nvSpPr>
          <p:cNvPr id="3" name="Text Placeholder 2"/>
          <p:cNvSpPr>
            <a:spLocks noGrp="1"/>
          </p:cNvSpPr>
          <p:nvPr>
            <p:ph type="body" idx="1"/>
          </p:nvPr>
        </p:nvSpPr>
        <p:spPr>
          <a:xfrm>
            <a:off x="1458988" y="20260574"/>
            <a:ext cx="18443377" cy="6622701"/>
          </a:xfrm>
        </p:spPr>
        <p:txBody>
          <a:bodyPr/>
          <a:lstStyle>
            <a:lvl1pPr marL="0" indent="0">
              <a:buNone/>
              <a:defRPr sz="5612">
                <a:solidFill>
                  <a:schemeClr val="tx1"/>
                </a:solidFill>
              </a:defRPr>
            </a:lvl1pPr>
            <a:lvl2pPr marL="1069162" indent="0">
              <a:buNone/>
              <a:defRPr sz="4677">
                <a:solidFill>
                  <a:schemeClr val="tx1">
                    <a:tint val="75000"/>
                  </a:schemeClr>
                </a:solidFill>
              </a:defRPr>
            </a:lvl2pPr>
            <a:lvl3pPr marL="2138324" indent="0">
              <a:buNone/>
              <a:defRPr sz="4209">
                <a:solidFill>
                  <a:schemeClr val="tx1">
                    <a:tint val="75000"/>
                  </a:schemeClr>
                </a:solidFill>
              </a:defRPr>
            </a:lvl3pPr>
            <a:lvl4pPr marL="3207487" indent="0">
              <a:buNone/>
              <a:defRPr sz="3742">
                <a:solidFill>
                  <a:schemeClr val="tx1">
                    <a:tint val="75000"/>
                  </a:schemeClr>
                </a:solidFill>
              </a:defRPr>
            </a:lvl4pPr>
            <a:lvl5pPr marL="4276649" indent="0">
              <a:buNone/>
              <a:defRPr sz="3742">
                <a:solidFill>
                  <a:schemeClr val="tx1">
                    <a:tint val="75000"/>
                  </a:schemeClr>
                </a:solidFill>
              </a:defRPr>
            </a:lvl5pPr>
            <a:lvl6pPr marL="5345811" indent="0">
              <a:buNone/>
              <a:defRPr sz="3742">
                <a:solidFill>
                  <a:schemeClr val="tx1">
                    <a:tint val="75000"/>
                  </a:schemeClr>
                </a:solidFill>
              </a:defRPr>
            </a:lvl6pPr>
            <a:lvl7pPr marL="6414973" indent="0">
              <a:buNone/>
              <a:defRPr sz="3742">
                <a:solidFill>
                  <a:schemeClr val="tx1">
                    <a:tint val="75000"/>
                  </a:schemeClr>
                </a:solidFill>
              </a:defRPr>
            </a:lvl7pPr>
            <a:lvl8pPr marL="7484135" indent="0">
              <a:buNone/>
              <a:defRPr sz="3742">
                <a:solidFill>
                  <a:schemeClr val="tx1">
                    <a:tint val="75000"/>
                  </a:schemeClr>
                </a:solidFill>
              </a:defRPr>
            </a:lvl8pPr>
            <a:lvl9pPr marL="8553298" indent="0">
              <a:buNone/>
              <a:defRPr sz="3742">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1009B51A-B237-4D78-A09B-34F4BE6D7B5F}" type="datetimeFigureOut">
              <a:rPr lang="zh-TW" altLang="en-US" smtClean="0"/>
              <a:t>2025/11/21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60844680-6CEA-4F4E-99B3-681428DE370B}" type="slidenum">
              <a:rPr lang="zh-TW" altLang="en-US" smtClean="0"/>
              <a:t>‹#›</a:t>
            </a:fld>
            <a:endParaRPr lang="zh-TW" altLang="en-US"/>
          </a:p>
        </p:txBody>
      </p:sp>
    </p:spTree>
    <p:extLst>
      <p:ext uri="{BB962C8B-B14F-4D97-AF65-F5344CB8AC3E}">
        <p14:creationId xmlns:p14="http://schemas.microsoft.com/office/powerpoint/2010/main" val="2179514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1470124" y="8059374"/>
            <a:ext cx="9088041" cy="19209345"/>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10825460" y="8059374"/>
            <a:ext cx="9088041" cy="19209345"/>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1009B51A-B237-4D78-A09B-34F4BE6D7B5F}" type="datetimeFigureOut">
              <a:rPr lang="zh-TW" altLang="en-US" smtClean="0"/>
              <a:t>2025/11/21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60844680-6CEA-4F4E-99B3-681428DE370B}" type="slidenum">
              <a:rPr lang="zh-TW" altLang="en-US" smtClean="0"/>
              <a:t>‹#›</a:t>
            </a:fld>
            <a:endParaRPr lang="zh-TW" altLang="en-US"/>
          </a:p>
        </p:txBody>
      </p:sp>
    </p:spTree>
    <p:extLst>
      <p:ext uri="{BB962C8B-B14F-4D97-AF65-F5344CB8AC3E}">
        <p14:creationId xmlns:p14="http://schemas.microsoft.com/office/powerpoint/2010/main" val="1656114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1472909" y="1611882"/>
            <a:ext cx="18443377" cy="5851808"/>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1472912" y="7421634"/>
            <a:ext cx="9046274" cy="3637228"/>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zh-TW" altLang="en-US"/>
              <a:t>按一下以編輯母片文字樣式</a:t>
            </a:r>
          </a:p>
        </p:txBody>
      </p:sp>
      <p:sp>
        <p:nvSpPr>
          <p:cNvPr id="4" name="Content Placeholder 3"/>
          <p:cNvSpPr>
            <a:spLocks noGrp="1"/>
          </p:cNvSpPr>
          <p:nvPr>
            <p:ph sz="half" idx="2"/>
          </p:nvPr>
        </p:nvSpPr>
        <p:spPr>
          <a:xfrm>
            <a:off x="1472912" y="11058863"/>
            <a:ext cx="9046274" cy="16265921"/>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10825461" y="7421634"/>
            <a:ext cx="9090826" cy="3637228"/>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zh-TW" altLang="en-US"/>
              <a:t>按一下以編輯母片文字樣式</a:t>
            </a:r>
          </a:p>
        </p:txBody>
      </p:sp>
      <p:sp>
        <p:nvSpPr>
          <p:cNvPr id="6" name="Content Placeholder 5"/>
          <p:cNvSpPr>
            <a:spLocks noGrp="1"/>
          </p:cNvSpPr>
          <p:nvPr>
            <p:ph sz="quarter" idx="4"/>
          </p:nvPr>
        </p:nvSpPr>
        <p:spPr>
          <a:xfrm>
            <a:off x="10825461" y="11058863"/>
            <a:ext cx="9090826" cy="16265921"/>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1009B51A-B237-4D78-A09B-34F4BE6D7B5F}" type="datetimeFigureOut">
              <a:rPr lang="zh-TW" altLang="en-US" smtClean="0"/>
              <a:t>2025/11/21</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60844680-6CEA-4F4E-99B3-681428DE370B}" type="slidenum">
              <a:rPr lang="zh-TW" altLang="en-US" smtClean="0"/>
              <a:t>‹#›</a:t>
            </a:fld>
            <a:endParaRPr lang="zh-TW" altLang="en-US"/>
          </a:p>
        </p:txBody>
      </p:sp>
    </p:spTree>
    <p:extLst>
      <p:ext uri="{BB962C8B-B14F-4D97-AF65-F5344CB8AC3E}">
        <p14:creationId xmlns:p14="http://schemas.microsoft.com/office/powerpoint/2010/main" val="33961254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1009B51A-B237-4D78-A09B-34F4BE6D7B5F}" type="datetimeFigureOut">
              <a:rPr lang="zh-TW" altLang="en-US" smtClean="0"/>
              <a:t>2025/11/21</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60844680-6CEA-4F4E-99B3-681428DE370B}" type="slidenum">
              <a:rPr lang="zh-TW" altLang="en-US" smtClean="0"/>
              <a:t>‹#›</a:t>
            </a:fld>
            <a:endParaRPr lang="zh-TW" altLang="en-US"/>
          </a:p>
        </p:txBody>
      </p:sp>
    </p:spTree>
    <p:extLst>
      <p:ext uri="{BB962C8B-B14F-4D97-AF65-F5344CB8AC3E}">
        <p14:creationId xmlns:p14="http://schemas.microsoft.com/office/powerpoint/2010/main" val="1171490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09B51A-B237-4D78-A09B-34F4BE6D7B5F}" type="datetimeFigureOut">
              <a:rPr lang="zh-TW" altLang="en-US" smtClean="0"/>
              <a:t>2025/11/21</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60844680-6CEA-4F4E-99B3-681428DE370B}" type="slidenum">
              <a:rPr lang="zh-TW" altLang="en-US" smtClean="0"/>
              <a:t>‹#›</a:t>
            </a:fld>
            <a:endParaRPr lang="zh-TW" altLang="en-US"/>
          </a:p>
        </p:txBody>
      </p:sp>
    </p:spTree>
    <p:extLst>
      <p:ext uri="{BB962C8B-B14F-4D97-AF65-F5344CB8AC3E}">
        <p14:creationId xmlns:p14="http://schemas.microsoft.com/office/powerpoint/2010/main" val="208084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3"/>
            </a:lvl1pPr>
          </a:lstStyle>
          <a:p>
            <a:r>
              <a:rPr lang="zh-TW" altLang="en-US"/>
              <a:t>按一下以編輯母片標題樣式</a:t>
            </a:r>
            <a:endParaRPr lang="en-US" dirty="0"/>
          </a:p>
        </p:txBody>
      </p:sp>
      <p:sp>
        <p:nvSpPr>
          <p:cNvPr id="3" name="Content Placeholder 2"/>
          <p:cNvSpPr>
            <a:spLocks noGrp="1"/>
          </p:cNvSpPr>
          <p:nvPr>
            <p:ph idx="1"/>
          </p:nvPr>
        </p:nvSpPr>
        <p:spPr>
          <a:xfrm>
            <a:off x="9090826" y="4359077"/>
            <a:ext cx="10825460" cy="21515024"/>
          </a:xfrm>
        </p:spPr>
        <p:txBody>
          <a:bodyPr/>
          <a:lstStyle>
            <a:lvl1pPr>
              <a:defRPr sz="7483"/>
            </a:lvl1pPr>
            <a:lvl2pPr>
              <a:defRPr sz="6548"/>
            </a:lvl2pPr>
            <a:lvl3pPr>
              <a:defRPr sz="5612"/>
            </a:lvl3pPr>
            <a:lvl4pPr>
              <a:defRPr sz="4677"/>
            </a:lvl4pPr>
            <a:lvl5pPr>
              <a:defRPr sz="4677"/>
            </a:lvl5pPr>
            <a:lvl6pPr>
              <a:defRPr sz="4677"/>
            </a:lvl6pPr>
            <a:lvl7pPr>
              <a:defRPr sz="4677"/>
            </a:lvl7pPr>
            <a:lvl8pPr>
              <a:defRPr sz="4677"/>
            </a:lvl8pPr>
            <a:lvl9pPr>
              <a:defRPr sz="4677"/>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1009B51A-B237-4D78-A09B-34F4BE6D7B5F}" type="datetimeFigureOut">
              <a:rPr lang="zh-TW" altLang="en-US" smtClean="0"/>
              <a:t>2025/11/21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60844680-6CEA-4F4E-99B3-681428DE370B}" type="slidenum">
              <a:rPr lang="zh-TW" altLang="en-US" smtClean="0"/>
              <a:t>‹#›</a:t>
            </a:fld>
            <a:endParaRPr lang="zh-TW" altLang="en-US"/>
          </a:p>
        </p:txBody>
      </p:sp>
    </p:spTree>
    <p:extLst>
      <p:ext uri="{BB962C8B-B14F-4D97-AF65-F5344CB8AC3E}">
        <p14:creationId xmlns:p14="http://schemas.microsoft.com/office/powerpoint/2010/main" val="896760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3"/>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9090826" y="4359077"/>
            <a:ext cx="10825460" cy="21515024"/>
          </a:xfrm>
        </p:spPr>
        <p:txBody>
          <a:bodyPr anchor="t"/>
          <a:lstStyle>
            <a:lvl1pPr marL="0" indent="0">
              <a:buNone/>
              <a:defRPr sz="7483"/>
            </a:lvl1pPr>
            <a:lvl2pPr marL="1069162" indent="0">
              <a:buNone/>
              <a:defRPr sz="6548"/>
            </a:lvl2pPr>
            <a:lvl3pPr marL="2138324" indent="0">
              <a:buNone/>
              <a:defRPr sz="5612"/>
            </a:lvl3pPr>
            <a:lvl4pPr marL="3207487" indent="0">
              <a:buNone/>
              <a:defRPr sz="4677"/>
            </a:lvl4pPr>
            <a:lvl5pPr marL="4276649" indent="0">
              <a:buNone/>
              <a:defRPr sz="4677"/>
            </a:lvl5pPr>
            <a:lvl6pPr marL="5345811" indent="0">
              <a:buNone/>
              <a:defRPr sz="4677"/>
            </a:lvl6pPr>
            <a:lvl7pPr marL="6414973" indent="0">
              <a:buNone/>
              <a:defRPr sz="4677"/>
            </a:lvl7pPr>
            <a:lvl8pPr marL="7484135" indent="0">
              <a:buNone/>
              <a:defRPr sz="4677"/>
            </a:lvl8pPr>
            <a:lvl9pPr marL="8553298" indent="0">
              <a:buNone/>
              <a:defRPr sz="4677"/>
            </a:lvl9pPr>
          </a:lstStyle>
          <a:p>
            <a:r>
              <a:rPr lang="zh-TW" altLang="en-US"/>
              <a:t>按一下圖示以新增圖片</a:t>
            </a:r>
            <a:endParaRPr lang="en-US" dirty="0"/>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1009B51A-B237-4D78-A09B-34F4BE6D7B5F}" type="datetimeFigureOut">
              <a:rPr lang="zh-TW" altLang="en-US" smtClean="0"/>
              <a:t>2025/11/21</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60844680-6CEA-4F4E-99B3-681428DE370B}" type="slidenum">
              <a:rPr lang="zh-TW" altLang="en-US" smtClean="0"/>
              <a:t>‹#›</a:t>
            </a:fld>
            <a:endParaRPr lang="zh-TW" altLang="en-US"/>
          </a:p>
        </p:txBody>
      </p:sp>
    </p:spTree>
    <p:extLst>
      <p:ext uri="{BB962C8B-B14F-4D97-AF65-F5344CB8AC3E}">
        <p14:creationId xmlns:p14="http://schemas.microsoft.com/office/powerpoint/2010/main" val="3387471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1009B51A-B237-4D78-A09B-34F4BE6D7B5F}" type="datetimeFigureOut">
              <a:rPr lang="zh-TW" altLang="en-US" smtClean="0"/>
              <a:t>2025/11/21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60844680-6CEA-4F4E-99B3-681428DE370B}" type="slidenum">
              <a:rPr lang="zh-TW" altLang="en-US" smtClean="0"/>
              <a:t>‹#›</a:t>
            </a:fld>
            <a:endParaRPr lang="zh-TW" altLang="en-US"/>
          </a:p>
        </p:txBody>
      </p:sp>
    </p:spTree>
    <p:extLst>
      <p:ext uri="{BB962C8B-B14F-4D97-AF65-F5344CB8AC3E}">
        <p14:creationId xmlns:p14="http://schemas.microsoft.com/office/powerpoint/2010/main" val="21228611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02658" y="1611875"/>
            <a:ext cx="4610844" cy="25656844"/>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1470125" y="1611875"/>
            <a:ext cx="13565237" cy="25656844"/>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1009B51A-B237-4D78-A09B-34F4BE6D7B5F}" type="datetimeFigureOut">
              <a:rPr lang="zh-TW" altLang="en-US" smtClean="0"/>
              <a:t>2025/11/21</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60844680-6CEA-4F4E-99B3-681428DE370B}" type="slidenum">
              <a:rPr lang="zh-TW" altLang="en-US" smtClean="0"/>
              <a:t>‹#›</a:t>
            </a:fld>
            <a:endParaRPr lang="zh-TW" altLang="en-US"/>
          </a:p>
        </p:txBody>
      </p:sp>
    </p:spTree>
    <p:extLst>
      <p:ext uri="{BB962C8B-B14F-4D97-AF65-F5344CB8AC3E}">
        <p14:creationId xmlns:p14="http://schemas.microsoft.com/office/powerpoint/2010/main" val="14779564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28000">
              <a:schemeClr val="bg1"/>
            </a:gs>
            <a:gs pos="0">
              <a:schemeClr val="accent1">
                <a:lumMod val="54000"/>
                <a:lumOff val="46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124" y="1611882"/>
            <a:ext cx="18443377" cy="5851808"/>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1470124" y="8059374"/>
            <a:ext cx="18443377" cy="19209345"/>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1470124" y="28060644"/>
            <a:ext cx="4811316" cy="1611875"/>
          </a:xfrm>
          <a:prstGeom prst="rect">
            <a:avLst/>
          </a:prstGeom>
        </p:spPr>
        <p:txBody>
          <a:bodyPr vert="horz" lIns="91440" tIns="45720" rIns="91440" bIns="45720" rtlCol="0" anchor="ctr"/>
          <a:lstStyle>
            <a:lvl1pPr algn="l">
              <a:defRPr sz="2806">
                <a:solidFill>
                  <a:schemeClr val="tx1">
                    <a:tint val="75000"/>
                  </a:schemeClr>
                </a:solidFill>
              </a:defRPr>
            </a:lvl1pPr>
          </a:lstStyle>
          <a:p>
            <a:fld id="{1009B51A-B237-4D78-A09B-34F4BE6D7B5F}" type="datetimeFigureOut">
              <a:rPr lang="zh-TW" altLang="en-US" smtClean="0"/>
              <a:t>2025/11/21</a:t>
            </a:fld>
            <a:endParaRPr lang="zh-TW" altLang="en-US"/>
          </a:p>
        </p:txBody>
      </p:sp>
      <p:sp>
        <p:nvSpPr>
          <p:cNvPr id="5" name="Footer Placeholder 4"/>
          <p:cNvSpPr>
            <a:spLocks noGrp="1"/>
          </p:cNvSpPr>
          <p:nvPr>
            <p:ph type="ftr" sz="quarter" idx="3"/>
          </p:nvPr>
        </p:nvSpPr>
        <p:spPr>
          <a:xfrm>
            <a:off x="7083326" y="28060644"/>
            <a:ext cx="7216973" cy="1611875"/>
          </a:xfrm>
          <a:prstGeom prst="rect">
            <a:avLst/>
          </a:prstGeom>
        </p:spPr>
        <p:txBody>
          <a:bodyPr vert="horz" lIns="91440" tIns="45720" rIns="91440" bIns="45720" rtlCol="0" anchor="ctr"/>
          <a:lstStyle>
            <a:lvl1pPr algn="ctr">
              <a:defRPr sz="2806">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15102185" y="28060644"/>
            <a:ext cx="4811316" cy="1611875"/>
          </a:xfrm>
          <a:prstGeom prst="rect">
            <a:avLst/>
          </a:prstGeom>
        </p:spPr>
        <p:txBody>
          <a:bodyPr vert="horz" lIns="91440" tIns="45720" rIns="91440" bIns="45720" rtlCol="0" anchor="ctr"/>
          <a:lstStyle>
            <a:lvl1pPr algn="r">
              <a:defRPr sz="2806">
                <a:solidFill>
                  <a:schemeClr val="tx1">
                    <a:tint val="75000"/>
                  </a:schemeClr>
                </a:solidFill>
              </a:defRPr>
            </a:lvl1pPr>
          </a:lstStyle>
          <a:p>
            <a:fld id="{60844680-6CEA-4F4E-99B3-681428DE370B}" type="slidenum">
              <a:rPr lang="zh-TW" altLang="en-US" smtClean="0"/>
              <a:t>‹#›</a:t>
            </a:fld>
            <a:endParaRPr lang="zh-TW" altLang="en-US"/>
          </a:p>
        </p:txBody>
      </p:sp>
    </p:spTree>
    <p:extLst>
      <p:ext uri="{BB962C8B-B14F-4D97-AF65-F5344CB8AC3E}">
        <p14:creationId xmlns:p14="http://schemas.microsoft.com/office/powerpoint/2010/main" val="213661283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p:titleStyle>
    <p:body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p:bodyStyle>
    <p:otherStyle>
      <a:defPPr>
        <a:defRPr lang="en-US"/>
      </a:defPPr>
      <a:lvl1pPr marL="0" algn="l" defTabSz="2138324" rtl="0" eaLnBrk="1" latinLnBrk="0" hangingPunct="1">
        <a:defRPr sz="4209" kern="1200">
          <a:solidFill>
            <a:schemeClr val="tx1"/>
          </a:solidFill>
          <a:latin typeface="+mn-lt"/>
          <a:ea typeface="+mn-ea"/>
          <a:cs typeface="+mn-cs"/>
        </a:defRPr>
      </a:lvl1pPr>
      <a:lvl2pPr marL="1069162" algn="l" defTabSz="2138324" rtl="0" eaLnBrk="1" latinLnBrk="0" hangingPunct="1">
        <a:defRPr sz="4209" kern="1200">
          <a:solidFill>
            <a:schemeClr val="tx1"/>
          </a:solidFill>
          <a:latin typeface="+mn-lt"/>
          <a:ea typeface="+mn-ea"/>
          <a:cs typeface="+mn-cs"/>
        </a:defRPr>
      </a:lvl2pPr>
      <a:lvl3pPr marL="2138324" algn="l" defTabSz="2138324" rtl="0" eaLnBrk="1" latinLnBrk="0" hangingPunct="1">
        <a:defRPr sz="4209" kern="1200">
          <a:solidFill>
            <a:schemeClr val="tx1"/>
          </a:solidFill>
          <a:latin typeface="+mn-lt"/>
          <a:ea typeface="+mn-ea"/>
          <a:cs typeface="+mn-cs"/>
        </a:defRPr>
      </a:lvl3pPr>
      <a:lvl4pPr marL="3207487" algn="l" defTabSz="2138324" rtl="0" eaLnBrk="1" latinLnBrk="0" hangingPunct="1">
        <a:defRPr sz="4209" kern="1200">
          <a:solidFill>
            <a:schemeClr val="tx1"/>
          </a:solidFill>
          <a:latin typeface="+mn-lt"/>
          <a:ea typeface="+mn-ea"/>
          <a:cs typeface="+mn-cs"/>
        </a:defRPr>
      </a:lvl4pPr>
      <a:lvl5pPr marL="4276649" algn="l" defTabSz="2138324" rtl="0" eaLnBrk="1" latinLnBrk="0" hangingPunct="1">
        <a:defRPr sz="4209" kern="1200">
          <a:solidFill>
            <a:schemeClr val="tx1"/>
          </a:solidFill>
          <a:latin typeface="+mn-lt"/>
          <a:ea typeface="+mn-ea"/>
          <a:cs typeface="+mn-cs"/>
        </a:defRPr>
      </a:lvl5pPr>
      <a:lvl6pPr marL="5345811" algn="l" defTabSz="2138324" rtl="0" eaLnBrk="1" latinLnBrk="0" hangingPunct="1">
        <a:defRPr sz="4209" kern="1200">
          <a:solidFill>
            <a:schemeClr val="tx1"/>
          </a:solidFill>
          <a:latin typeface="+mn-lt"/>
          <a:ea typeface="+mn-ea"/>
          <a:cs typeface="+mn-cs"/>
        </a:defRPr>
      </a:lvl6pPr>
      <a:lvl7pPr marL="6414973" algn="l" defTabSz="2138324" rtl="0" eaLnBrk="1" latinLnBrk="0" hangingPunct="1">
        <a:defRPr sz="4209" kern="1200">
          <a:solidFill>
            <a:schemeClr val="tx1"/>
          </a:solidFill>
          <a:latin typeface="+mn-lt"/>
          <a:ea typeface="+mn-ea"/>
          <a:cs typeface="+mn-cs"/>
        </a:defRPr>
      </a:lvl7pPr>
      <a:lvl8pPr marL="7484135" algn="l" defTabSz="2138324" rtl="0" eaLnBrk="1" latinLnBrk="0" hangingPunct="1">
        <a:defRPr sz="4209" kern="1200">
          <a:solidFill>
            <a:schemeClr val="tx1"/>
          </a:solidFill>
          <a:latin typeface="+mn-lt"/>
          <a:ea typeface="+mn-ea"/>
          <a:cs typeface="+mn-cs"/>
        </a:defRPr>
      </a:lvl8pPr>
      <a:lvl9pPr marL="8553298" algn="l" defTabSz="2138324" rtl="0" eaLnBrk="1" latinLnBrk="0" hangingPunct="1">
        <a:defRPr sz="420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hdphoto" Target="../media/hdphoto1.wdp"/><Relationship Id="rId13" Type="http://schemas.openxmlformats.org/officeDocument/2006/relationships/image" Target="../media/image11.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0.sv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0" Type="http://schemas.openxmlformats.org/officeDocument/2006/relationships/image" Target="../media/image8.svg"/><Relationship Id="rId4" Type="http://schemas.openxmlformats.org/officeDocument/2006/relationships/image" Target="../media/image3.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矩形 55">
            <a:extLst>
              <a:ext uri="{FF2B5EF4-FFF2-40B4-BE49-F238E27FC236}">
                <a16:creationId xmlns:a16="http://schemas.microsoft.com/office/drawing/2014/main" id="{EBD74270-DE16-95A1-679D-EC1886A1B264}"/>
              </a:ext>
            </a:extLst>
          </p:cNvPr>
          <p:cNvSpPr/>
          <p:nvPr/>
        </p:nvSpPr>
        <p:spPr>
          <a:xfrm rot="3102229">
            <a:off x="11751340" y="-252848"/>
            <a:ext cx="1109921" cy="3694987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55" name="矩形 54">
            <a:extLst>
              <a:ext uri="{FF2B5EF4-FFF2-40B4-BE49-F238E27FC236}">
                <a16:creationId xmlns:a16="http://schemas.microsoft.com/office/drawing/2014/main" id="{8EDF7816-3A30-1068-E1C3-A7EF72C3B771}"/>
              </a:ext>
            </a:extLst>
          </p:cNvPr>
          <p:cNvSpPr/>
          <p:nvPr/>
        </p:nvSpPr>
        <p:spPr>
          <a:xfrm rot="3102229">
            <a:off x="13528942" y="3130797"/>
            <a:ext cx="1109921" cy="3694987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5" name="矩形: 圓角 4">
            <a:extLst>
              <a:ext uri="{FF2B5EF4-FFF2-40B4-BE49-F238E27FC236}">
                <a16:creationId xmlns:a16="http://schemas.microsoft.com/office/drawing/2014/main" id="{87FCDFDF-8377-9F20-44B5-75CEDF01E1B5}"/>
              </a:ext>
            </a:extLst>
          </p:cNvPr>
          <p:cNvSpPr/>
          <p:nvPr/>
        </p:nvSpPr>
        <p:spPr>
          <a:xfrm>
            <a:off x="-31298" y="-3655467"/>
            <a:ext cx="21414923" cy="7844942"/>
          </a:xfrm>
          <a:prstGeom prst="roundRect">
            <a:avLst>
              <a:gd name="adj" fmla="val 20375"/>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11" name="矩形: 圓角 10">
            <a:extLst>
              <a:ext uri="{FF2B5EF4-FFF2-40B4-BE49-F238E27FC236}">
                <a16:creationId xmlns:a16="http://schemas.microsoft.com/office/drawing/2014/main" id="{2701C2AC-629E-56CE-DCCA-A3159C855ED5}"/>
              </a:ext>
            </a:extLst>
          </p:cNvPr>
          <p:cNvSpPr/>
          <p:nvPr/>
        </p:nvSpPr>
        <p:spPr>
          <a:xfrm>
            <a:off x="695323" y="15671744"/>
            <a:ext cx="9513096" cy="14188329"/>
          </a:xfrm>
          <a:prstGeom prst="roundRect">
            <a:avLst/>
          </a:prstGeom>
          <a:solidFill>
            <a:schemeClr val="bg1"/>
          </a:solidFill>
          <a:ln w="1270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dirty="0">
                <a:latin typeface="Arial" panose="020B0604020202020204" pitchFamily="34" charset="0"/>
                <a:ea typeface="標楷體" panose="03000509000000000000" pitchFamily="65" charset="-120"/>
                <a:cs typeface="Arial" panose="020B0604020202020204" pitchFamily="34" charset="0"/>
              </a:rPr>
              <a:t>視覺辨識</a:t>
            </a:r>
            <a:endParaRPr lang="zh-TW" altLang="en-US" dirty="0">
              <a:latin typeface="Arial" panose="020B0604020202020204" pitchFamily="34" charset="0"/>
              <a:ea typeface="標楷體" panose="03000509000000000000" pitchFamily="65" charset="-120"/>
              <a:cs typeface="Arial" panose="020B0604020202020204" pitchFamily="34" charset="0"/>
            </a:endParaRPr>
          </a:p>
        </p:txBody>
      </p:sp>
      <p:sp>
        <p:nvSpPr>
          <p:cNvPr id="4" name="矩形 3">
            <a:extLst>
              <a:ext uri="{FF2B5EF4-FFF2-40B4-BE49-F238E27FC236}">
                <a16:creationId xmlns:a16="http://schemas.microsoft.com/office/drawing/2014/main" id="{A545AE92-F9FB-CB3B-D41A-3C8E7056E41D}"/>
              </a:ext>
            </a:extLst>
          </p:cNvPr>
          <p:cNvSpPr/>
          <p:nvPr/>
        </p:nvSpPr>
        <p:spPr>
          <a:xfrm>
            <a:off x="0" y="-1"/>
            <a:ext cx="24612600" cy="430530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ea typeface="標楷體" panose="03000509000000000000" pitchFamily="65" charset="-120"/>
              <a:cs typeface="Arial" panose="020B0604020202020204" pitchFamily="34" charset="0"/>
            </a:endParaRPr>
          </a:p>
        </p:txBody>
      </p:sp>
      <p:sp>
        <p:nvSpPr>
          <p:cNvPr id="2" name="標題 1">
            <a:extLst>
              <a:ext uri="{FF2B5EF4-FFF2-40B4-BE49-F238E27FC236}">
                <a16:creationId xmlns:a16="http://schemas.microsoft.com/office/drawing/2014/main" id="{B07C2171-E6F8-86E5-4991-84F4E5A82566}"/>
              </a:ext>
            </a:extLst>
          </p:cNvPr>
          <p:cNvSpPr>
            <a:spLocks noGrp="1"/>
          </p:cNvSpPr>
          <p:nvPr>
            <p:ph type="ctrTitle"/>
          </p:nvPr>
        </p:nvSpPr>
        <p:spPr>
          <a:xfrm>
            <a:off x="0" y="8297"/>
            <a:ext cx="21414923" cy="1668103"/>
          </a:xfrm>
        </p:spPr>
        <p:txBody>
          <a:bodyPr>
            <a:noAutofit/>
          </a:bodyPr>
          <a:lstStyle/>
          <a:p>
            <a:r>
              <a:rPr lang="en-US" altLang="zh-TW" sz="5000" dirty="0">
                <a:solidFill>
                  <a:schemeClr val="bg1"/>
                </a:solidFill>
                <a:latin typeface="Arial" panose="020B0604020202020204" pitchFamily="34" charset="0"/>
                <a:ea typeface="標楷體" panose="03000509000000000000" pitchFamily="65" charset="-120"/>
                <a:cs typeface="Arial" panose="020B0604020202020204" pitchFamily="34" charset="0"/>
              </a:rPr>
              <a:t>ROS2 Intelligent Shuttlecock Collection Robot</a:t>
            </a:r>
            <a:r>
              <a:rPr lang="zh-TW" altLang="en-US" sz="5000" dirty="0">
                <a:solidFill>
                  <a:schemeClr val="bg1"/>
                </a:solidFill>
                <a:latin typeface="Arial" panose="020B0604020202020204" pitchFamily="34" charset="0"/>
                <a:ea typeface="標楷體" panose="03000509000000000000" pitchFamily="65" charset="-120"/>
                <a:cs typeface="Arial" panose="020B0604020202020204" pitchFamily="34" charset="0"/>
              </a:rPr>
              <a:t>：</a:t>
            </a:r>
            <a:r>
              <a:rPr lang="en-US" altLang="zh-TW" sz="5000" dirty="0">
                <a:solidFill>
                  <a:schemeClr val="bg1"/>
                </a:solidFill>
                <a:latin typeface="Arial" panose="020B0604020202020204" pitchFamily="34" charset="0"/>
                <a:cs typeface="Arial" panose="020B0604020202020204" pitchFamily="34" charset="0"/>
              </a:rPr>
              <a:t>Integrating </a:t>
            </a:r>
            <a:br>
              <a:rPr lang="en-US" altLang="zh-TW" sz="5000" dirty="0">
                <a:solidFill>
                  <a:schemeClr val="bg1"/>
                </a:solidFill>
                <a:latin typeface="Arial" panose="020B0604020202020204" pitchFamily="34" charset="0"/>
                <a:cs typeface="Arial" panose="020B0604020202020204" pitchFamily="34" charset="0"/>
              </a:rPr>
            </a:br>
            <a:r>
              <a:rPr lang="en-US" altLang="zh-TW" sz="5000" dirty="0">
                <a:solidFill>
                  <a:schemeClr val="bg1"/>
                </a:solidFill>
                <a:latin typeface="Arial" panose="020B0604020202020204" pitchFamily="34" charset="0"/>
                <a:cs typeface="Arial" panose="020B0604020202020204" pitchFamily="34" charset="0"/>
              </a:rPr>
              <a:t>Machine Learning Navigation and Deep Learning Object Detection</a:t>
            </a:r>
            <a:endParaRPr lang="zh-TW" altLang="en-US" sz="5000" dirty="0">
              <a:solidFill>
                <a:schemeClr val="bg1"/>
              </a:solidFill>
              <a:latin typeface="Arial" panose="020B0604020202020204" pitchFamily="34" charset="0"/>
              <a:ea typeface="標楷體" panose="03000509000000000000" pitchFamily="65" charset="-120"/>
              <a:cs typeface="Arial" panose="020B0604020202020204" pitchFamily="34" charset="0"/>
            </a:endParaRPr>
          </a:p>
        </p:txBody>
      </p:sp>
      <p:sp>
        <p:nvSpPr>
          <p:cNvPr id="6" name="文字方塊 5">
            <a:extLst>
              <a:ext uri="{FF2B5EF4-FFF2-40B4-BE49-F238E27FC236}">
                <a16:creationId xmlns:a16="http://schemas.microsoft.com/office/drawing/2014/main" id="{82621204-EDDE-ED0A-3835-CD27894C84C3}"/>
              </a:ext>
            </a:extLst>
          </p:cNvPr>
          <p:cNvSpPr txBox="1"/>
          <p:nvPr/>
        </p:nvSpPr>
        <p:spPr>
          <a:xfrm>
            <a:off x="0" y="1859260"/>
            <a:ext cx="21383625" cy="861774"/>
          </a:xfrm>
          <a:prstGeom prst="rect">
            <a:avLst/>
          </a:prstGeom>
          <a:noFill/>
        </p:spPr>
        <p:txBody>
          <a:bodyPr wrap="square">
            <a:spAutoFit/>
          </a:bodyPr>
          <a:lstStyle/>
          <a:p>
            <a:pPr algn="ctr"/>
            <a:r>
              <a:rPr lang="zh-TW" altLang="en-US" sz="5000" dirty="0">
                <a:solidFill>
                  <a:schemeClr val="bg1"/>
                </a:solidFill>
                <a:latin typeface="Arial" panose="020B0604020202020204" pitchFamily="34" charset="0"/>
                <a:ea typeface="標楷體" panose="03000509000000000000" pitchFamily="65" charset="-120"/>
                <a:cs typeface="Arial" panose="020B0604020202020204" pitchFamily="34" charset="0"/>
              </a:rPr>
              <a:t>ROS2 智慧型羽球自動收集機器人：</a:t>
            </a:r>
            <a:r>
              <a:rPr lang="zh-TW" altLang="zh-TW" sz="5000" dirty="0">
                <a:solidFill>
                  <a:schemeClr val="bg1"/>
                </a:solidFill>
                <a:latin typeface="Arial" panose="020B0604020202020204" pitchFamily="34" charset="0"/>
                <a:ea typeface="標楷體" panose="03000509000000000000" pitchFamily="65" charset="-120"/>
                <a:cs typeface="Arial" panose="020B0604020202020204" pitchFamily="34" charset="0"/>
              </a:rPr>
              <a:t>結合機器學習導航與深度學習物件偵測</a:t>
            </a:r>
          </a:p>
        </p:txBody>
      </p:sp>
      <p:sp>
        <p:nvSpPr>
          <p:cNvPr id="7" name="文字方塊 6">
            <a:extLst>
              <a:ext uri="{FF2B5EF4-FFF2-40B4-BE49-F238E27FC236}">
                <a16:creationId xmlns:a16="http://schemas.microsoft.com/office/drawing/2014/main" id="{8D2A6E13-9750-4B38-AA1F-FC1F479DA5A1}"/>
              </a:ext>
            </a:extLst>
          </p:cNvPr>
          <p:cNvSpPr txBox="1"/>
          <p:nvPr/>
        </p:nvSpPr>
        <p:spPr>
          <a:xfrm>
            <a:off x="0" y="3040360"/>
            <a:ext cx="21383625" cy="861774"/>
          </a:xfrm>
          <a:prstGeom prst="rect">
            <a:avLst/>
          </a:prstGeom>
          <a:noFill/>
        </p:spPr>
        <p:txBody>
          <a:bodyPr wrap="square">
            <a:spAutoFit/>
          </a:bodyPr>
          <a:lstStyle/>
          <a:p>
            <a:pPr algn="ctr"/>
            <a:r>
              <a:rPr lang="zh-TW" altLang="en-US" sz="5000" dirty="0">
                <a:solidFill>
                  <a:schemeClr val="bg1"/>
                </a:solidFill>
                <a:latin typeface="Arial" panose="020B0604020202020204" pitchFamily="34" charset="0"/>
                <a:ea typeface="標楷體" panose="03000509000000000000" pitchFamily="65" charset="-120"/>
                <a:cs typeface="Arial" panose="020B0604020202020204" pitchFamily="34" charset="0"/>
              </a:rPr>
              <a:t>組員：高啟軒、利瑋哲、唐禮直　指導教授：李建緯 教授</a:t>
            </a:r>
          </a:p>
        </p:txBody>
      </p:sp>
      <p:sp>
        <p:nvSpPr>
          <p:cNvPr id="12" name="矩形: 圓角 11">
            <a:extLst>
              <a:ext uri="{FF2B5EF4-FFF2-40B4-BE49-F238E27FC236}">
                <a16:creationId xmlns:a16="http://schemas.microsoft.com/office/drawing/2014/main" id="{AB3D95E2-D97D-A130-F409-95C75D033B63}"/>
              </a:ext>
            </a:extLst>
          </p:cNvPr>
          <p:cNvSpPr/>
          <p:nvPr/>
        </p:nvSpPr>
        <p:spPr>
          <a:xfrm>
            <a:off x="11109528" y="8403286"/>
            <a:ext cx="9513096" cy="15779256"/>
          </a:xfrm>
          <a:prstGeom prst="roundRect">
            <a:avLst/>
          </a:prstGeom>
          <a:solidFill>
            <a:schemeClr val="bg1"/>
          </a:solidFill>
          <a:ln w="1270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dirty="0">
                <a:latin typeface="Arial" panose="020B0604020202020204" pitchFamily="34" charset="0"/>
                <a:ea typeface="標楷體" panose="03000509000000000000" pitchFamily="65" charset="-120"/>
                <a:cs typeface="Arial" panose="020B0604020202020204" pitchFamily="34" charset="0"/>
              </a:rPr>
              <a:t>整體系統具備自動模式與手動模式兩種運作方式：在自動模式下，機器人會先檢查是否已存在場地地圖，若有則使用路徑規劃演算法生成最佳巡迴路線並自主巡邏以蒐集散落的羽球；若無地圖，則進入探索模式，透過感測器資料與SLAM即時建構環境地圖。</a:t>
            </a:r>
            <a:endParaRPr lang="zh-TW" altLang="en-US" dirty="0">
              <a:latin typeface="Arial" panose="020B0604020202020204" pitchFamily="34" charset="0"/>
              <a:ea typeface="標楷體" panose="03000509000000000000" pitchFamily="65" charset="-120"/>
              <a:cs typeface="Arial" panose="020B0604020202020204" pitchFamily="34" charset="0"/>
            </a:endParaRPr>
          </a:p>
        </p:txBody>
      </p:sp>
      <p:sp>
        <p:nvSpPr>
          <p:cNvPr id="13" name="矩形: 圓角化對角角落 12">
            <a:extLst>
              <a:ext uri="{FF2B5EF4-FFF2-40B4-BE49-F238E27FC236}">
                <a16:creationId xmlns:a16="http://schemas.microsoft.com/office/drawing/2014/main" id="{1DD3FB9F-CC9E-BB51-1582-E1D952F00DEB}"/>
              </a:ext>
            </a:extLst>
          </p:cNvPr>
          <p:cNvSpPr/>
          <p:nvPr/>
        </p:nvSpPr>
        <p:spPr>
          <a:xfrm>
            <a:off x="695321" y="5115273"/>
            <a:ext cx="19992980" cy="2496807"/>
          </a:xfrm>
          <a:prstGeom prst="round2DiagRect">
            <a:avLst/>
          </a:prstGeom>
          <a:solidFill>
            <a:schemeClr val="bg1"/>
          </a:solidFill>
          <a:ln w="1270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a:latin typeface="Arial" panose="020B0604020202020204" pitchFamily="34" charset="0"/>
                <a:ea typeface="標楷體" panose="03000509000000000000" pitchFamily="65" charset="-120"/>
                <a:cs typeface="Arial" panose="020B0604020202020204" pitchFamily="34" charset="0"/>
              </a:rPr>
              <a:t>進行地圖建構</a:t>
            </a:r>
            <a:endParaRPr lang="zh-TW" altLang="en-US" dirty="0">
              <a:latin typeface="Arial" panose="020B0604020202020204" pitchFamily="34" charset="0"/>
              <a:ea typeface="標楷體" panose="03000509000000000000" pitchFamily="65" charset="-120"/>
              <a:cs typeface="Arial" panose="020B0604020202020204" pitchFamily="34" charset="0"/>
            </a:endParaRPr>
          </a:p>
        </p:txBody>
      </p:sp>
      <p:sp>
        <p:nvSpPr>
          <p:cNvPr id="16" name="六邊形 15">
            <a:extLst>
              <a:ext uri="{FF2B5EF4-FFF2-40B4-BE49-F238E27FC236}">
                <a16:creationId xmlns:a16="http://schemas.microsoft.com/office/drawing/2014/main" id="{F5816D72-6924-5A5E-1639-9BDD89BA082B}"/>
              </a:ext>
            </a:extLst>
          </p:cNvPr>
          <p:cNvSpPr/>
          <p:nvPr/>
        </p:nvSpPr>
        <p:spPr>
          <a:xfrm>
            <a:off x="3103953" y="15158385"/>
            <a:ext cx="4695830" cy="1061601"/>
          </a:xfrm>
          <a:prstGeom prst="hexag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60000"/>
            <a:r>
              <a:rPr lang="zh-TW" altLang="en-US" sz="5000" dirty="0">
                <a:latin typeface="Arial" panose="020B0604020202020204" pitchFamily="34" charset="0"/>
                <a:ea typeface="標楷體" panose="03000509000000000000" pitchFamily="65" charset="-120"/>
                <a:cs typeface="Arial" panose="020B0604020202020204" pitchFamily="34" charset="0"/>
              </a:rPr>
              <a:t>系統實作</a:t>
            </a:r>
          </a:p>
        </p:txBody>
      </p:sp>
      <p:sp>
        <p:nvSpPr>
          <p:cNvPr id="17" name="六邊形 16">
            <a:extLst>
              <a:ext uri="{FF2B5EF4-FFF2-40B4-BE49-F238E27FC236}">
                <a16:creationId xmlns:a16="http://schemas.microsoft.com/office/drawing/2014/main" id="{EF1E63BE-CE65-17C3-58F8-FCEA41F33D9D}"/>
              </a:ext>
            </a:extLst>
          </p:cNvPr>
          <p:cNvSpPr/>
          <p:nvPr/>
        </p:nvSpPr>
        <p:spPr>
          <a:xfrm>
            <a:off x="13577883" y="7879772"/>
            <a:ext cx="4695830" cy="1061601"/>
          </a:xfrm>
          <a:prstGeom prst="hexag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5000" dirty="0">
                <a:latin typeface="Arial" panose="020B0604020202020204" pitchFamily="34" charset="0"/>
                <a:ea typeface="標楷體" panose="03000509000000000000" pitchFamily="65" charset="-120"/>
                <a:cs typeface="Arial" panose="020B0604020202020204" pitchFamily="34" charset="0"/>
              </a:rPr>
              <a:t>研究成果</a:t>
            </a:r>
          </a:p>
        </p:txBody>
      </p:sp>
      <p:sp>
        <p:nvSpPr>
          <p:cNvPr id="10" name="矩形: 圓角 9">
            <a:extLst>
              <a:ext uri="{FF2B5EF4-FFF2-40B4-BE49-F238E27FC236}">
                <a16:creationId xmlns:a16="http://schemas.microsoft.com/office/drawing/2014/main" id="{19441C92-1905-5CD5-3C22-FD64E8288ACE}"/>
              </a:ext>
            </a:extLst>
          </p:cNvPr>
          <p:cNvSpPr/>
          <p:nvPr/>
        </p:nvSpPr>
        <p:spPr>
          <a:xfrm>
            <a:off x="11175205" y="26260774"/>
            <a:ext cx="9513096" cy="3533883"/>
          </a:xfrm>
          <a:prstGeom prst="roundRect">
            <a:avLst/>
          </a:prstGeom>
          <a:solidFill>
            <a:schemeClr val="bg1"/>
          </a:solidFill>
          <a:ln w="1270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ea typeface="標楷體" panose="03000509000000000000" pitchFamily="65" charset="-120"/>
              <a:cs typeface="Arial" panose="020B0604020202020204" pitchFamily="34" charset="0"/>
            </a:endParaRPr>
          </a:p>
        </p:txBody>
      </p:sp>
      <p:sp>
        <p:nvSpPr>
          <p:cNvPr id="18" name="六邊形 17">
            <a:extLst>
              <a:ext uri="{FF2B5EF4-FFF2-40B4-BE49-F238E27FC236}">
                <a16:creationId xmlns:a16="http://schemas.microsoft.com/office/drawing/2014/main" id="{55D3EC8E-5F38-4BF7-D043-A8776B50CEAD}"/>
              </a:ext>
            </a:extLst>
          </p:cNvPr>
          <p:cNvSpPr/>
          <p:nvPr/>
        </p:nvSpPr>
        <p:spPr>
          <a:xfrm>
            <a:off x="14083902" y="25827734"/>
            <a:ext cx="3683795" cy="831121"/>
          </a:xfrm>
          <a:prstGeom prst="hexag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5000" dirty="0">
                <a:latin typeface="Arial" panose="020B0604020202020204" pitchFamily="34" charset="0"/>
                <a:ea typeface="標楷體" panose="03000509000000000000" pitchFamily="65" charset="-120"/>
                <a:cs typeface="Arial" panose="020B0604020202020204" pitchFamily="34" charset="0"/>
              </a:rPr>
              <a:t>結 論</a:t>
            </a:r>
          </a:p>
        </p:txBody>
      </p:sp>
      <p:sp>
        <p:nvSpPr>
          <p:cNvPr id="21" name="文字方塊 20">
            <a:extLst>
              <a:ext uri="{FF2B5EF4-FFF2-40B4-BE49-F238E27FC236}">
                <a16:creationId xmlns:a16="http://schemas.microsoft.com/office/drawing/2014/main" id="{C0F20638-629B-EF20-BE6C-81B6289AC5AB}"/>
              </a:ext>
            </a:extLst>
          </p:cNvPr>
          <p:cNvSpPr txBox="1"/>
          <p:nvPr/>
        </p:nvSpPr>
        <p:spPr>
          <a:xfrm>
            <a:off x="11377180" y="26847695"/>
            <a:ext cx="9097238" cy="2677656"/>
          </a:xfrm>
          <a:prstGeom prst="rect">
            <a:avLst/>
          </a:prstGeom>
          <a:noFill/>
        </p:spPr>
        <p:txBody>
          <a:bodyPr wrap="square" rtlCol="0">
            <a:spAutoFit/>
          </a:bodyPr>
          <a:lstStyle/>
          <a:p>
            <a:r>
              <a:rPr lang="zh-TW" altLang="en-US" sz="2800" dirty="0">
                <a:latin typeface="Arial" panose="020B0604020202020204" pitchFamily="34" charset="0"/>
                <a:ea typeface="標楷體" panose="03000509000000000000" pitchFamily="65" charset="-120"/>
                <a:cs typeface="Arial" panose="020B0604020202020204" pitchFamily="34" charset="0"/>
              </a:rPr>
              <a:t>　　雖然機器學習在路徑規劃上尚無法達到訓練模型般的最佳化效果，且因 </a:t>
            </a:r>
            <a:r>
              <a:rPr lang="en-US" altLang="zh-TW" sz="2800" dirty="0">
                <a:latin typeface="Arial" panose="020B0604020202020204" pitchFamily="34" charset="0"/>
                <a:ea typeface="標楷體" panose="03000509000000000000" pitchFamily="65" charset="-120"/>
                <a:cs typeface="Arial" panose="020B0604020202020204" pitchFamily="34" charset="0"/>
              </a:rPr>
              <a:t>YOLOv8 </a:t>
            </a:r>
            <a:r>
              <a:rPr lang="zh-TW" altLang="en-US" sz="2800" dirty="0">
                <a:latin typeface="Arial" panose="020B0604020202020204" pitchFamily="34" charset="0"/>
                <a:ea typeface="標楷體" panose="03000509000000000000" pitchFamily="65" charset="-120"/>
                <a:cs typeface="Arial" panose="020B0604020202020204" pitchFamily="34" charset="0"/>
              </a:rPr>
              <a:t>影像樣本數較少而偶有辨識誤判的情形，但整體系統流程仍能確保機器人在運行過程中同步完成羽球的偵測、定位與撿拾任務，充分展現本系統在電腦視覺、機器人軟體架構與嵌入式控制整合方面的應用價值與發展潛力。</a:t>
            </a:r>
          </a:p>
        </p:txBody>
      </p:sp>
      <p:sp>
        <p:nvSpPr>
          <p:cNvPr id="3" name="文字方塊 2">
            <a:extLst>
              <a:ext uri="{FF2B5EF4-FFF2-40B4-BE49-F238E27FC236}">
                <a16:creationId xmlns:a16="http://schemas.microsoft.com/office/drawing/2014/main" id="{9E2BA3E6-79A5-9542-A907-2504FAB4CD55}"/>
              </a:ext>
            </a:extLst>
          </p:cNvPr>
          <p:cNvSpPr txBox="1"/>
          <p:nvPr/>
        </p:nvSpPr>
        <p:spPr>
          <a:xfrm>
            <a:off x="768376" y="5729741"/>
            <a:ext cx="19795253" cy="1569660"/>
          </a:xfrm>
          <a:prstGeom prst="rect">
            <a:avLst/>
          </a:prstGeom>
          <a:noFill/>
        </p:spPr>
        <p:txBody>
          <a:bodyPr wrap="square" rtlCol="0">
            <a:spAutoFit/>
          </a:bodyPr>
          <a:lstStyle/>
          <a:p>
            <a:r>
              <a:rPr lang="zh-TW" altLang="en-US" sz="3200" dirty="0">
                <a:latin typeface="Arial" panose="020B0604020202020204" pitchFamily="34" charset="0"/>
                <a:ea typeface="標楷體" panose="03000509000000000000" pitchFamily="65" charset="-120"/>
                <a:cs typeface="Arial" panose="020B0604020202020204" pitchFamily="34" charset="0"/>
              </a:rPr>
              <a:t>　　本專題結合電腦視覺辨識、路徑規劃、地圖建構與嵌入式車體控制，實現羽球場域中自動偵測、導航與撿拾功能，以解決球場使用後的羽球收集問題。系統以</a:t>
            </a:r>
            <a:r>
              <a:rPr lang="en-US" altLang="zh-TW" sz="3200" dirty="0">
                <a:latin typeface="Arial" panose="020B0604020202020204" pitchFamily="34" charset="0"/>
                <a:ea typeface="標楷體" panose="03000509000000000000" pitchFamily="65" charset="-120"/>
                <a:cs typeface="Arial" panose="020B0604020202020204" pitchFamily="34" charset="0"/>
              </a:rPr>
              <a:t>ROS2</a:t>
            </a:r>
            <a:r>
              <a:rPr lang="zh-TW" altLang="en-US" sz="3200" dirty="0">
                <a:latin typeface="Arial" panose="020B0604020202020204" pitchFamily="34" charset="0"/>
                <a:ea typeface="標楷體" panose="03000509000000000000" pitchFamily="65" charset="-120"/>
                <a:cs typeface="Arial" panose="020B0604020202020204" pitchFamily="34" charset="0"/>
              </a:rPr>
              <a:t>負責任務協調與地圖建構，</a:t>
            </a:r>
            <a:r>
              <a:rPr lang="en-US" altLang="zh-TW" sz="3200" dirty="0">
                <a:latin typeface="Arial" panose="020B0604020202020204" pitchFamily="34" charset="0"/>
                <a:ea typeface="標楷體" panose="03000509000000000000" pitchFamily="65" charset="-120"/>
                <a:cs typeface="Arial" panose="020B0604020202020204" pitchFamily="34" charset="0"/>
              </a:rPr>
              <a:t>STM32</a:t>
            </a:r>
            <a:r>
              <a:rPr lang="zh-TW" altLang="en-US" sz="3200" dirty="0">
                <a:latin typeface="Arial" panose="020B0604020202020204" pitchFamily="34" charset="0"/>
                <a:ea typeface="標楷體" panose="03000509000000000000" pitchFamily="65" charset="-120"/>
                <a:cs typeface="Arial" panose="020B0604020202020204" pitchFamily="34" charset="0"/>
              </a:rPr>
              <a:t>微控制器進行驅動控制，並透過</a:t>
            </a:r>
            <a:r>
              <a:rPr lang="en-US" altLang="zh-TW" sz="3200" dirty="0">
                <a:latin typeface="Arial" panose="020B0604020202020204" pitchFamily="34" charset="0"/>
                <a:ea typeface="標楷體" panose="03000509000000000000" pitchFamily="65" charset="-120"/>
                <a:cs typeface="Arial" panose="020B0604020202020204" pitchFamily="34" charset="0"/>
              </a:rPr>
              <a:t>YOLOv8</a:t>
            </a:r>
            <a:r>
              <a:rPr lang="zh-TW" altLang="en-US" sz="3200" dirty="0">
                <a:latin typeface="Arial" panose="020B0604020202020204" pitchFamily="34" charset="0"/>
                <a:ea typeface="標楷體" panose="03000509000000000000" pitchFamily="65" charset="-120"/>
                <a:cs typeface="Arial" panose="020B0604020202020204" pitchFamily="34" charset="0"/>
              </a:rPr>
              <a:t>模型進行羽球影像辨識，結合機器學習自動生成巡邏路徑，達成高效率自主收集作業。</a:t>
            </a:r>
          </a:p>
        </p:txBody>
      </p:sp>
      <p:sp>
        <p:nvSpPr>
          <p:cNvPr id="20" name="文字方塊 19">
            <a:extLst>
              <a:ext uri="{FF2B5EF4-FFF2-40B4-BE49-F238E27FC236}">
                <a16:creationId xmlns:a16="http://schemas.microsoft.com/office/drawing/2014/main" id="{FCE3BB2A-8849-554B-28B3-7A7E1F41C389}"/>
              </a:ext>
            </a:extLst>
          </p:cNvPr>
          <p:cNvSpPr txBox="1"/>
          <p:nvPr/>
        </p:nvSpPr>
        <p:spPr>
          <a:xfrm>
            <a:off x="1186248" y="16504755"/>
            <a:ext cx="3870583" cy="646331"/>
          </a:xfrm>
          <a:prstGeom prst="rect">
            <a:avLst/>
          </a:prstGeom>
          <a:noFill/>
        </p:spPr>
        <p:txBody>
          <a:bodyPr wrap="square">
            <a:spAutoFit/>
          </a:bodyPr>
          <a:lstStyle/>
          <a:p>
            <a:r>
              <a:rPr lang="zh-TW" altLang="en-US" sz="3600" b="1" dirty="0">
                <a:solidFill>
                  <a:srgbClr val="000000"/>
                </a:solidFill>
                <a:latin typeface="Arial" panose="020B0604020202020204" pitchFamily="34" charset="0"/>
                <a:ea typeface="標楷體" panose="03000509000000000000" pitchFamily="65" charset="-120"/>
                <a:cs typeface="Arial" panose="020B0604020202020204" pitchFamily="34" charset="0"/>
              </a:rPr>
              <a:t>深度學習物件</a:t>
            </a:r>
            <a:r>
              <a:rPr lang="zh-TW" altLang="zh-TW" sz="3600" b="1" dirty="0">
                <a:solidFill>
                  <a:srgbClr val="000000"/>
                </a:solidFill>
                <a:effectLst/>
                <a:latin typeface="Arial" panose="020B0604020202020204" pitchFamily="34" charset="0"/>
                <a:ea typeface="標楷體" panose="03000509000000000000" pitchFamily="65" charset="-120"/>
                <a:cs typeface="Arial" panose="020B0604020202020204" pitchFamily="34" charset="0"/>
              </a:rPr>
              <a:t>辨識</a:t>
            </a:r>
            <a:endParaRPr lang="zh-TW" altLang="en-US" sz="3600" b="1" dirty="0">
              <a:latin typeface="Arial" panose="020B0604020202020204" pitchFamily="34" charset="0"/>
              <a:ea typeface="標楷體" panose="03000509000000000000" pitchFamily="65" charset="-120"/>
              <a:cs typeface="Arial" panose="020B0604020202020204" pitchFamily="34" charset="0"/>
            </a:endParaRPr>
          </a:p>
        </p:txBody>
      </p:sp>
      <p:sp>
        <p:nvSpPr>
          <p:cNvPr id="25" name="文字方塊 24">
            <a:extLst>
              <a:ext uri="{FF2B5EF4-FFF2-40B4-BE49-F238E27FC236}">
                <a16:creationId xmlns:a16="http://schemas.microsoft.com/office/drawing/2014/main" id="{4EB29FDC-6BCD-C0BD-3A6D-D7A888D27217}"/>
              </a:ext>
            </a:extLst>
          </p:cNvPr>
          <p:cNvSpPr txBox="1"/>
          <p:nvPr/>
        </p:nvSpPr>
        <p:spPr>
          <a:xfrm>
            <a:off x="1186249" y="17138386"/>
            <a:ext cx="8643551" cy="6350649"/>
          </a:xfrm>
          <a:prstGeom prst="rect">
            <a:avLst/>
          </a:prstGeom>
          <a:noFill/>
        </p:spPr>
        <p:txBody>
          <a:bodyPr wrap="square">
            <a:spAutoFit/>
          </a:bodyPr>
          <a:lstStyle/>
          <a:p>
            <a:pPr>
              <a:lnSpc>
                <a:spcPct val="115000"/>
              </a:lnSpc>
              <a:spcAft>
                <a:spcPts val="1000"/>
              </a:spcAft>
              <a:buNone/>
            </a:pPr>
            <a:r>
              <a:rPr lang="zh-TW" altLang="zh-TW" sz="2400" dirty="0">
                <a:effectLst/>
                <a:latin typeface="Arial" panose="020B0604020202020204" pitchFamily="34" charset="0"/>
                <a:ea typeface="標楷體" panose="03000509000000000000" pitchFamily="65" charset="-120"/>
                <a:cs typeface="Arial" panose="020B0604020202020204" pitchFamily="34" charset="0"/>
              </a:rPr>
              <a:t>資料集準備</a:t>
            </a:r>
            <a:r>
              <a:rPr lang="zh-TW" altLang="en-US" sz="2400" dirty="0">
                <a:effectLst/>
                <a:latin typeface="Arial" panose="020B0604020202020204" pitchFamily="34" charset="0"/>
                <a:ea typeface="標楷體" panose="03000509000000000000" pitchFamily="65" charset="-120"/>
                <a:cs typeface="Arial" panose="020B0604020202020204" pitchFamily="34" charset="0"/>
              </a:rPr>
              <a:t>：</a:t>
            </a:r>
            <a:endParaRPr lang="zh-TW" altLang="zh-TW" sz="2400" dirty="0">
              <a:effectLst/>
              <a:latin typeface="Arial" panose="020B0604020202020204" pitchFamily="34" charset="0"/>
              <a:ea typeface="標楷體" panose="03000509000000000000" pitchFamily="65" charset="-120"/>
              <a:cs typeface="Arial" panose="020B0604020202020204" pitchFamily="34" charset="0"/>
            </a:endParaRPr>
          </a:p>
          <a:p>
            <a:pPr>
              <a:lnSpc>
                <a:spcPct val="115000"/>
              </a:lnSpc>
            </a:pPr>
            <a:r>
              <a:rPr lang="zh-TW" altLang="en-US" sz="2400" dirty="0">
                <a:latin typeface="Arial" panose="020B0604020202020204" pitchFamily="34" charset="0"/>
                <a:ea typeface="標楷體" panose="03000509000000000000" pitchFamily="65" charset="-120"/>
                <a:cs typeface="Arial" panose="020B0604020202020204" pitchFamily="34" charset="0"/>
              </a:rPr>
              <a:t>　</a:t>
            </a:r>
            <a:r>
              <a:rPr lang="zh-TW" altLang="zh-TW" sz="2400" dirty="0">
                <a:effectLst/>
                <a:latin typeface="Arial" panose="020B0604020202020204" pitchFamily="34" charset="0"/>
                <a:ea typeface="標楷體" panose="03000509000000000000" pitchFamily="65" charset="-120"/>
                <a:cs typeface="Arial" panose="020B0604020202020204" pitchFamily="34" charset="0"/>
              </a:rPr>
              <a:t>標註羽球位置，建立資料集</a:t>
            </a:r>
          </a:p>
          <a:p>
            <a:pPr marL="342900" indent="-342900">
              <a:lnSpc>
                <a:spcPct val="115000"/>
              </a:lnSpc>
              <a:buFont typeface="Wingdings" panose="05000000000000000000" pitchFamily="2" charset="2"/>
              <a:buChar char=""/>
            </a:pPr>
            <a:r>
              <a:rPr lang="zh-TW" altLang="zh-TW" sz="2400" dirty="0">
                <a:effectLst/>
                <a:latin typeface="Arial" panose="020B0604020202020204" pitchFamily="34" charset="0"/>
                <a:ea typeface="標楷體" panose="03000509000000000000" pitchFamily="65" charset="-120"/>
                <a:cs typeface="Arial" panose="020B0604020202020204" pitchFamily="34" charset="0"/>
              </a:rPr>
              <a:t>單顆羽球與多顆羽球的場景</a:t>
            </a:r>
          </a:p>
          <a:p>
            <a:pPr marL="342900" indent="-342900">
              <a:lnSpc>
                <a:spcPct val="115000"/>
              </a:lnSpc>
              <a:buFont typeface="Wingdings" panose="05000000000000000000" pitchFamily="2" charset="2"/>
              <a:buChar char=""/>
            </a:pPr>
            <a:r>
              <a:rPr lang="zh-TW" altLang="zh-TW" sz="2400" dirty="0">
                <a:effectLst/>
                <a:latin typeface="Arial" panose="020B0604020202020204" pitchFamily="34" charset="0"/>
                <a:ea typeface="標楷體" panose="03000509000000000000" pitchFamily="65" charset="-120"/>
                <a:cs typeface="Arial" panose="020B0604020202020204" pitchFamily="34" charset="0"/>
              </a:rPr>
              <a:t>不同背景與光照條件</a:t>
            </a:r>
          </a:p>
          <a:p>
            <a:pPr marL="342900" indent="-342900">
              <a:lnSpc>
                <a:spcPct val="115000"/>
              </a:lnSpc>
              <a:spcAft>
                <a:spcPts val="1000"/>
              </a:spcAft>
              <a:buFont typeface="Wingdings" panose="05000000000000000000" pitchFamily="2" charset="2"/>
              <a:buChar char=""/>
            </a:pPr>
            <a:r>
              <a:rPr lang="zh-TW" altLang="zh-TW" sz="2400" dirty="0">
                <a:effectLst/>
                <a:latin typeface="Arial" panose="020B0604020202020204" pitchFamily="34" charset="0"/>
                <a:ea typeface="標楷體" panose="03000509000000000000" pitchFamily="65" charset="-120"/>
                <a:cs typeface="Arial" panose="020B0604020202020204" pitchFamily="34" charset="0"/>
              </a:rPr>
              <a:t>不同角度和距離的拍攝影像</a:t>
            </a:r>
          </a:p>
          <a:p>
            <a:pPr>
              <a:lnSpc>
                <a:spcPct val="115000"/>
              </a:lnSpc>
              <a:spcAft>
                <a:spcPts val="1000"/>
              </a:spcAft>
              <a:buNone/>
            </a:pPr>
            <a:r>
              <a:rPr lang="zh-TW" altLang="zh-TW" sz="2400" dirty="0">
                <a:effectLst/>
                <a:latin typeface="Arial" panose="020B0604020202020204" pitchFamily="34" charset="0"/>
                <a:ea typeface="標楷體" panose="03000509000000000000" pitchFamily="65" charset="-120"/>
                <a:cs typeface="Arial" panose="020B0604020202020204" pitchFamily="34" charset="0"/>
              </a:rPr>
              <a:t>模型訓練流程</a:t>
            </a:r>
            <a:r>
              <a:rPr lang="zh-TW" altLang="en-US" sz="2400" dirty="0">
                <a:latin typeface="Arial" panose="020B0604020202020204" pitchFamily="34" charset="0"/>
                <a:ea typeface="標楷體" panose="03000509000000000000" pitchFamily="65" charset="-120"/>
                <a:cs typeface="Arial" panose="020B0604020202020204" pitchFamily="34" charset="0"/>
              </a:rPr>
              <a:t>：</a:t>
            </a:r>
            <a:endParaRPr lang="zh-TW" altLang="zh-TW" sz="2400" dirty="0">
              <a:effectLst/>
              <a:latin typeface="Arial" panose="020B0604020202020204" pitchFamily="34" charset="0"/>
              <a:ea typeface="標楷體" panose="03000509000000000000" pitchFamily="65" charset="-120"/>
              <a:cs typeface="Arial" panose="020B0604020202020204" pitchFamily="34" charset="0"/>
            </a:endParaRPr>
          </a:p>
          <a:p>
            <a:pPr marL="342900" lvl="0" indent="-342900">
              <a:lnSpc>
                <a:spcPct val="115000"/>
              </a:lnSpc>
              <a:spcAft>
                <a:spcPts val="1000"/>
              </a:spcAft>
              <a:buNone/>
              <a:tabLst>
                <a:tab pos="370205" algn="l"/>
              </a:tabLst>
            </a:pPr>
            <a:r>
              <a:rPr lang="zh-TW" altLang="en-US" sz="2400" dirty="0">
                <a:latin typeface="Arial" panose="020B0604020202020204" pitchFamily="34" charset="0"/>
                <a:ea typeface="標楷體" panose="03000509000000000000" pitchFamily="65" charset="-120"/>
                <a:cs typeface="Arial" panose="020B0604020202020204" pitchFamily="34" charset="0"/>
              </a:rPr>
              <a:t>　</a:t>
            </a:r>
            <a:r>
              <a:rPr lang="zh-TW" altLang="zh-TW" sz="2400" dirty="0">
                <a:effectLst/>
                <a:latin typeface="Arial" panose="020B0604020202020204" pitchFamily="34" charset="0"/>
                <a:ea typeface="標楷體" panose="03000509000000000000" pitchFamily="65" charset="-120"/>
                <a:cs typeface="Arial" panose="020B0604020202020204" pitchFamily="34" charset="0"/>
              </a:rPr>
              <a:t>將標註完成的資料集輸入</a:t>
            </a:r>
            <a:r>
              <a:rPr lang="en-US" altLang="zh-TW" sz="2400" dirty="0">
                <a:effectLst/>
                <a:latin typeface="Arial" panose="020B0604020202020204" pitchFamily="34" charset="0"/>
                <a:ea typeface="標楷體" panose="03000509000000000000" pitchFamily="65" charset="-120"/>
                <a:cs typeface="Arial" panose="020B0604020202020204" pitchFamily="34" charset="0"/>
              </a:rPr>
              <a:t>YOLOv8</a:t>
            </a:r>
            <a:r>
              <a:rPr lang="zh-TW" altLang="en-US" sz="2400" dirty="0">
                <a:latin typeface="Arial" panose="020B0604020202020204" pitchFamily="34" charset="0"/>
                <a:ea typeface="標楷體" panose="03000509000000000000" pitchFamily="65" charset="-120"/>
                <a:cs typeface="Arial" panose="020B0604020202020204" pitchFamily="34" charset="0"/>
              </a:rPr>
              <a:t>，</a:t>
            </a:r>
            <a:r>
              <a:rPr lang="zh-TW" altLang="zh-TW" sz="2400" dirty="0">
                <a:latin typeface="Arial" panose="020B0604020202020204" pitchFamily="34" charset="0"/>
                <a:ea typeface="標楷體" panose="03000509000000000000" pitchFamily="65" charset="-120"/>
                <a:cs typeface="Arial" panose="020B0604020202020204" pitchFamily="34" charset="0"/>
              </a:rPr>
              <a:t>將</a:t>
            </a:r>
            <a:r>
              <a:rPr lang="zh-TW" altLang="en-US" sz="2400" dirty="0">
                <a:latin typeface="Arial" panose="020B0604020202020204" pitchFamily="34" charset="0"/>
                <a:ea typeface="標楷體" panose="03000509000000000000" pitchFamily="65" charset="-120"/>
                <a:cs typeface="Arial" panose="020B0604020202020204" pitchFamily="34" charset="0"/>
              </a:rPr>
              <a:t>其</a:t>
            </a:r>
            <a:r>
              <a:rPr lang="zh-TW" altLang="zh-TW" sz="2400" dirty="0">
                <a:latin typeface="Arial" panose="020B0604020202020204" pitchFamily="34" charset="0"/>
                <a:ea typeface="標楷體" panose="03000509000000000000" pitchFamily="65" charset="-120"/>
                <a:cs typeface="Arial" panose="020B0604020202020204" pitchFamily="34" charset="0"/>
              </a:rPr>
              <a:t>拆分為</a:t>
            </a:r>
            <a:r>
              <a:rPr lang="zh-TW" altLang="en-US" sz="2400" dirty="0">
                <a:latin typeface="Arial" panose="020B0604020202020204" pitchFamily="34" charset="0"/>
                <a:ea typeface="標楷體" panose="03000509000000000000" pitchFamily="65" charset="-120"/>
                <a:cs typeface="Arial" panose="020B0604020202020204" pitchFamily="34" charset="0"/>
              </a:rPr>
              <a:t>：</a:t>
            </a:r>
            <a:endParaRPr lang="zh-TW" altLang="zh-TW" sz="2400" dirty="0">
              <a:effectLst/>
              <a:latin typeface="Arial" panose="020B0604020202020204" pitchFamily="34" charset="0"/>
              <a:ea typeface="標楷體" panose="03000509000000000000" pitchFamily="65" charset="-120"/>
              <a:cs typeface="Arial" panose="020B0604020202020204" pitchFamily="34" charset="0"/>
            </a:endParaRPr>
          </a:p>
          <a:p>
            <a:pPr marL="342900" indent="-342900">
              <a:lnSpc>
                <a:spcPct val="115000"/>
              </a:lnSpc>
              <a:buFont typeface="Wingdings" panose="05000000000000000000" pitchFamily="2" charset="2"/>
              <a:buChar char=""/>
            </a:pPr>
            <a:r>
              <a:rPr lang="zh-TW" altLang="zh-TW" sz="2400" dirty="0">
                <a:effectLst/>
                <a:latin typeface="Arial" panose="020B0604020202020204" pitchFamily="34" charset="0"/>
                <a:ea typeface="標楷體" panose="03000509000000000000" pitchFamily="65" charset="-120"/>
                <a:cs typeface="Arial" panose="020B0604020202020204" pitchFamily="34" charset="0"/>
              </a:rPr>
              <a:t>訓練</a:t>
            </a:r>
            <a:r>
              <a:rPr lang="zh-TW" altLang="zh-TW" sz="2400" dirty="0">
                <a:latin typeface="Arial" panose="020B0604020202020204" pitchFamily="34" charset="0"/>
                <a:ea typeface="標楷體" panose="03000509000000000000" pitchFamily="65" charset="-120"/>
                <a:cs typeface="Arial" panose="020B0604020202020204" pitchFamily="34" charset="0"/>
              </a:rPr>
              <a:t>集</a:t>
            </a:r>
            <a:r>
              <a:rPr lang="zh-TW" altLang="zh-TW" sz="2400" dirty="0">
                <a:effectLst/>
                <a:latin typeface="Arial" panose="020B0604020202020204" pitchFamily="34" charset="0"/>
                <a:ea typeface="標楷體" panose="03000509000000000000" pitchFamily="65" charset="-120"/>
                <a:cs typeface="Arial" panose="020B0604020202020204" pitchFamily="34" charset="0"/>
              </a:rPr>
              <a:t>：</a:t>
            </a:r>
            <a:r>
              <a:rPr lang="en-US" altLang="zh-TW" sz="2400" dirty="0">
                <a:effectLst/>
                <a:latin typeface="Arial" panose="020B0604020202020204" pitchFamily="34" charset="0"/>
                <a:ea typeface="標楷體" panose="03000509000000000000" pitchFamily="65" charset="-120"/>
                <a:cs typeface="Arial" panose="020B0604020202020204" pitchFamily="34" charset="0"/>
              </a:rPr>
              <a:t>80%</a:t>
            </a:r>
            <a:r>
              <a:rPr lang="zh-TW" altLang="zh-TW" sz="2400" dirty="0">
                <a:effectLst/>
                <a:latin typeface="Arial" panose="020B0604020202020204" pitchFamily="34" charset="0"/>
                <a:ea typeface="標楷體" panose="03000509000000000000" pitchFamily="65" charset="-120"/>
                <a:cs typeface="Arial" panose="020B0604020202020204" pitchFamily="34" charset="0"/>
              </a:rPr>
              <a:t>用於模型訓練</a:t>
            </a:r>
          </a:p>
          <a:p>
            <a:pPr marL="342900" indent="-342900">
              <a:lnSpc>
                <a:spcPct val="115000"/>
              </a:lnSpc>
              <a:spcAft>
                <a:spcPts val="1000"/>
              </a:spcAft>
              <a:buFont typeface="Wingdings" panose="05000000000000000000" pitchFamily="2" charset="2"/>
              <a:buChar char=""/>
            </a:pPr>
            <a:r>
              <a:rPr lang="zh-TW" altLang="zh-TW" sz="2400" dirty="0">
                <a:effectLst/>
                <a:latin typeface="Arial" panose="020B0604020202020204" pitchFamily="34" charset="0"/>
                <a:ea typeface="標楷體" panose="03000509000000000000" pitchFamily="65" charset="-120"/>
                <a:cs typeface="Arial" panose="020B0604020202020204" pitchFamily="34" charset="0"/>
              </a:rPr>
              <a:t>驗證集</a:t>
            </a:r>
            <a:r>
              <a:rPr lang="en-US" altLang="zh-TW" sz="2400" dirty="0">
                <a:effectLst/>
                <a:latin typeface="Arial" panose="020B0604020202020204" pitchFamily="34" charset="0"/>
                <a:ea typeface="標楷體" panose="03000509000000000000" pitchFamily="65" charset="-120"/>
                <a:cs typeface="Arial" panose="020B0604020202020204" pitchFamily="34" charset="0"/>
              </a:rPr>
              <a:t> </a:t>
            </a:r>
            <a:r>
              <a:rPr lang="zh-TW" altLang="zh-TW" sz="2400" dirty="0">
                <a:effectLst/>
                <a:latin typeface="Arial" panose="020B0604020202020204" pitchFamily="34" charset="0"/>
                <a:ea typeface="標楷體" panose="03000509000000000000" pitchFamily="65" charset="-120"/>
                <a:cs typeface="Arial" panose="020B0604020202020204" pitchFamily="34" charset="0"/>
              </a:rPr>
              <a:t>：</a:t>
            </a:r>
            <a:r>
              <a:rPr lang="en-US" altLang="zh-TW" sz="2400" dirty="0">
                <a:effectLst/>
                <a:latin typeface="Arial" panose="020B0604020202020204" pitchFamily="34" charset="0"/>
                <a:ea typeface="標楷體" panose="03000509000000000000" pitchFamily="65" charset="-120"/>
                <a:cs typeface="Arial" panose="020B0604020202020204" pitchFamily="34" charset="0"/>
              </a:rPr>
              <a:t>20%</a:t>
            </a:r>
            <a:r>
              <a:rPr lang="zh-TW" altLang="zh-TW" sz="2400" dirty="0">
                <a:effectLst/>
                <a:latin typeface="Arial" panose="020B0604020202020204" pitchFamily="34" charset="0"/>
                <a:ea typeface="標楷體" panose="03000509000000000000" pitchFamily="65" charset="-120"/>
                <a:cs typeface="Arial" panose="020B0604020202020204" pitchFamily="34" charset="0"/>
              </a:rPr>
              <a:t>用於監控訓練過程與調整超參數</a:t>
            </a:r>
            <a:endParaRPr lang="zh-TW" altLang="en-US" sz="2400" dirty="0">
              <a:effectLst/>
              <a:latin typeface="Arial" panose="020B0604020202020204" pitchFamily="34" charset="0"/>
              <a:ea typeface="標楷體" panose="03000509000000000000" pitchFamily="65" charset="-120"/>
              <a:cs typeface="Arial" panose="020B0604020202020204" pitchFamily="34" charset="0"/>
            </a:endParaRPr>
          </a:p>
          <a:p>
            <a:pPr>
              <a:lnSpc>
                <a:spcPct val="115000"/>
              </a:lnSpc>
              <a:spcAft>
                <a:spcPts val="1000"/>
              </a:spcAft>
              <a:buNone/>
            </a:pPr>
            <a:r>
              <a:rPr lang="zh-TW" altLang="zh-TW" sz="2400" dirty="0">
                <a:effectLst/>
                <a:latin typeface="Arial" panose="020B0604020202020204" pitchFamily="34" charset="0"/>
                <a:ea typeface="標楷體" panose="03000509000000000000" pitchFamily="65" charset="-120"/>
                <a:cs typeface="Arial" panose="020B0604020202020204" pitchFamily="34" charset="0"/>
              </a:rPr>
              <a:t>超參數設置</a:t>
            </a:r>
            <a:r>
              <a:rPr lang="zh-TW" altLang="en-US" sz="2400" dirty="0">
                <a:effectLst/>
                <a:latin typeface="Arial" panose="020B0604020202020204" pitchFamily="34" charset="0"/>
                <a:ea typeface="標楷體" panose="03000509000000000000" pitchFamily="65" charset="-120"/>
                <a:cs typeface="Arial" panose="020B0604020202020204" pitchFamily="34" charset="0"/>
              </a:rPr>
              <a:t>：</a:t>
            </a:r>
            <a:endParaRPr lang="zh-TW" altLang="zh-TW" sz="2400" dirty="0">
              <a:effectLst/>
              <a:latin typeface="Arial" panose="020B0604020202020204" pitchFamily="34" charset="0"/>
              <a:ea typeface="標楷體" panose="03000509000000000000" pitchFamily="65" charset="-120"/>
              <a:cs typeface="Arial" panose="020B0604020202020204" pitchFamily="34" charset="0"/>
            </a:endParaRPr>
          </a:p>
          <a:p>
            <a:pPr marL="342900" indent="-342900">
              <a:lnSpc>
                <a:spcPct val="115000"/>
              </a:lnSpc>
              <a:buFont typeface="Wingdings" panose="05000000000000000000" pitchFamily="2" charset="2"/>
              <a:buChar char=""/>
            </a:pPr>
            <a:r>
              <a:rPr lang="zh-TW" altLang="zh-TW" sz="2400" dirty="0">
                <a:effectLst/>
                <a:latin typeface="Arial" panose="020B0604020202020204" pitchFamily="34" charset="0"/>
                <a:ea typeface="標楷體" panose="03000509000000000000" pitchFamily="65" charset="-120"/>
                <a:cs typeface="Arial" panose="020B0604020202020204" pitchFamily="34" charset="0"/>
              </a:rPr>
              <a:t>學習率</a:t>
            </a:r>
            <a:r>
              <a:rPr lang="en-US" altLang="zh-TW" sz="2400" dirty="0">
                <a:effectLst/>
                <a:latin typeface="Arial" panose="020B0604020202020204" pitchFamily="34" charset="0"/>
                <a:ea typeface="標楷體" panose="03000509000000000000" pitchFamily="65" charset="-120"/>
                <a:cs typeface="Arial" panose="020B0604020202020204" pitchFamily="34" charset="0"/>
              </a:rPr>
              <a:t> </a:t>
            </a:r>
            <a:r>
              <a:rPr lang="zh-TW" altLang="zh-TW" sz="2400" dirty="0">
                <a:effectLst/>
                <a:latin typeface="Arial" panose="020B0604020202020204" pitchFamily="34" charset="0"/>
                <a:ea typeface="標楷體" panose="03000509000000000000" pitchFamily="65" charset="-120"/>
                <a:cs typeface="Arial" panose="020B0604020202020204" pitchFamily="34" charset="0"/>
              </a:rPr>
              <a:t>：控制權重更新幅度</a:t>
            </a:r>
            <a:endParaRPr lang="en-US" altLang="zh-TW" sz="2400" dirty="0">
              <a:effectLst/>
              <a:latin typeface="Arial" panose="020B0604020202020204" pitchFamily="34" charset="0"/>
              <a:ea typeface="標楷體" panose="03000509000000000000" pitchFamily="65" charset="-120"/>
              <a:cs typeface="Arial" panose="020B0604020202020204" pitchFamily="34" charset="0"/>
            </a:endParaRPr>
          </a:p>
          <a:p>
            <a:pPr marL="342900" indent="-342900">
              <a:lnSpc>
                <a:spcPct val="115000"/>
              </a:lnSpc>
              <a:buFont typeface="Wingdings" panose="05000000000000000000" pitchFamily="2" charset="2"/>
              <a:buChar char=""/>
            </a:pPr>
            <a:r>
              <a:rPr lang="zh-TW" altLang="zh-TW" sz="2400" dirty="0">
                <a:effectLst/>
                <a:latin typeface="Arial" panose="020B0604020202020204" pitchFamily="34" charset="0"/>
                <a:ea typeface="標楷體" panose="03000509000000000000" pitchFamily="65" charset="-120"/>
                <a:cs typeface="Arial" panose="020B0604020202020204" pitchFamily="34" charset="0"/>
              </a:rPr>
              <a:t>批次大小</a:t>
            </a:r>
            <a:r>
              <a:rPr lang="en-US" altLang="zh-TW" sz="2400" dirty="0">
                <a:effectLst/>
                <a:latin typeface="Arial" panose="020B0604020202020204" pitchFamily="34" charset="0"/>
                <a:ea typeface="標楷體" panose="03000509000000000000" pitchFamily="65" charset="-120"/>
                <a:cs typeface="Arial" panose="020B0604020202020204" pitchFamily="34" charset="0"/>
              </a:rPr>
              <a:t> </a:t>
            </a:r>
            <a:r>
              <a:rPr lang="zh-TW" altLang="zh-TW" sz="2400" dirty="0">
                <a:effectLst/>
                <a:latin typeface="Arial" panose="020B0604020202020204" pitchFamily="34" charset="0"/>
                <a:ea typeface="標楷體" panose="03000509000000000000" pitchFamily="65" charset="-120"/>
                <a:cs typeface="Arial" panose="020B0604020202020204" pitchFamily="34" charset="0"/>
              </a:rPr>
              <a:t>：影響訓練穩定性與運算效率</a:t>
            </a:r>
          </a:p>
          <a:p>
            <a:pPr marL="342900" indent="-342900">
              <a:lnSpc>
                <a:spcPct val="115000"/>
              </a:lnSpc>
              <a:buFont typeface="Wingdings" panose="05000000000000000000" pitchFamily="2" charset="2"/>
              <a:buChar char=""/>
            </a:pPr>
            <a:r>
              <a:rPr lang="zh-TW" altLang="zh-TW" sz="2400" dirty="0">
                <a:effectLst/>
                <a:latin typeface="Arial" panose="020B0604020202020204" pitchFamily="34" charset="0"/>
                <a:ea typeface="標楷體" panose="03000509000000000000" pitchFamily="65" charset="-120"/>
                <a:cs typeface="Arial" panose="020B0604020202020204" pitchFamily="34" charset="0"/>
              </a:rPr>
              <a:t>訓練輪數</a:t>
            </a:r>
            <a:r>
              <a:rPr lang="en-US" altLang="zh-TW" sz="2400" dirty="0">
                <a:effectLst/>
                <a:latin typeface="Arial" panose="020B0604020202020204" pitchFamily="34" charset="0"/>
                <a:ea typeface="標楷體" panose="03000509000000000000" pitchFamily="65" charset="-120"/>
                <a:cs typeface="Arial" panose="020B0604020202020204" pitchFamily="34" charset="0"/>
              </a:rPr>
              <a:t> </a:t>
            </a:r>
            <a:r>
              <a:rPr lang="zh-TW" altLang="zh-TW" sz="2400" dirty="0">
                <a:effectLst/>
                <a:latin typeface="Arial" panose="020B0604020202020204" pitchFamily="34" charset="0"/>
                <a:ea typeface="標楷體" panose="03000509000000000000" pitchFamily="65" charset="-120"/>
                <a:cs typeface="Arial" panose="020B0604020202020204" pitchFamily="34" charset="0"/>
              </a:rPr>
              <a:t>：確保模型充分學習特徵</a:t>
            </a:r>
            <a:endParaRPr lang="en-US" altLang="zh-TW" sz="2400" dirty="0">
              <a:effectLst/>
              <a:latin typeface="Arial" panose="020B0604020202020204" pitchFamily="34" charset="0"/>
              <a:ea typeface="標楷體" panose="03000509000000000000" pitchFamily="65" charset="-120"/>
              <a:cs typeface="Arial" panose="020B0604020202020204" pitchFamily="34" charset="0"/>
            </a:endParaRPr>
          </a:p>
        </p:txBody>
      </p:sp>
      <p:sp>
        <p:nvSpPr>
          <p:cNvPr id="27" name="文字方塊 26">
            <a:extLst>
              <a:ext uri="{FF2B5EF4-FFF2-40B4-BE49-F238E27FC236}">
                <a16:creationId xmlns:a16="http://schemas.microsoft.com/office/drawing/2014/main" id="{F330B674-1242-DBFF-A379-E20101BE0D18}"/>
              </a:ext>
            </a:extLst>
          </p:cNvPr>
          <p:cNvSpPr txBox="1"/>
          <p:nvPr/>
        </p:nvSpPr>
        <p:spPr>
          <a:xfrm>
            <a:off x="1156752" y="24155081"/>
            <a:ext cx="3598464" cy="646331"/>
          </a:xfrm>
          <a:prstGeom prst="rect">
            <a:avLst/>
          </a:prstGeom>
          <a:noFill/>
        </p:spPr>
        <p:txBody>
          <a:bodyPr wrap="square">
            <a:spAutoFit/>
          </a:bodyPr>
          <a:lstStyle/>
          <a:p>
            <a:r>
              <a:rPr lang="zh-TW" altLang="zh-TW" sz="3600" b="1" dirty="0">
                <a:solidFill>
                  <a:srgbClr val="000000"/>
                </a:solidFill>
                <a:effectLst/>
                <a:latin typeface="Arial" panose="020B0604020202020204" pitchFamily="34" charset="0"/>
                <a:ea typeface="標楷體" panose="03000509000000000000" pitchFamily="65" charset="-120"/>
                <a:cs typeface="Arial" panose="020B0604020202020204" pitchFamily="34" charset="0"/>
              </a:rPr>
              <a:t>巡邏與機器學習</a:t>
            </a:r>
            <a:endParaRPr lang="zh-TW" altLang="en-US" sz="3600" b="1" dirty="0">
              <a:latin typeface="Arial" panose="020B0604020202020204" pitchFamily="34" charset="0"/>
              <a:ea typeface="標楷體" panose="03000509000000000000" pitchFamily="65" charset="-120"/>
              <a:cs typeface="Arial" panose="020B0604020202020204" pitchFamily="34" charset="0"/>
            </a:endParaRPr>
          </a:p>
        </p:txBody>
      </p:sp>
      <p:sp>
        <p:nvSpPr>
          <p:cNvPr id="29" name="文字方塊 28">
            <a:extLst>
              <a:ext uri="{FF2B5EF4-FFF2-40B4-BE49-F238E27FC236}">
                <a16:creationId xmlns:a16="http://schemas.microsoft.com/office/drawing/2014/main" id="{DEB2D4D2-AFC2-D9B5-D9AF-55F80B1C9161}"/>
              </a:ext>
            </a:extLst>
          </p:cNvPr>
          <p:cNvSpPr txBox="1"/>
          <p:nvPr/>
        </p:nvSpPr>
        <p:spPr>
          <a:xfrm>
            <a:off x="1028083" y="24775646"/>
            <a:ext cx="4196062" cy="4524315"/>
          </a:xfrm>
          <a:prstGeom prst="rect">
            <a:avLst/>
          </a:prstGeom>
          <a:noFill/>
        </p:spPr>
        <p:txBody>
          <a:bodyPr wrap="square">
            <a:spAutoFit/>
          </a:bodyPr>
          <a:lstStyle/>
          <a:p>
            <a:r>
              <a:rPr lang="en-US" altLang="zh-TW" sz="2400" dirty="0" err="1">
                <a:effectLst/>
                <a:latin typeface="Arial" panose="020B0604020202020204" pitchFamily="34" charset="0"/>
                <a:ea typeface="標楷體" panose="03000509000000000000" pitchFamily="65" charset="-120"/>
                <a:cs typeface="Arial" panose="020B0604020202020204" pitchFamily="34" charset="0"/>
              </a:rPr>
              <a:t>KMeans</a:t>
            </a:r>
            <a:r>
              <a:rPr lang="zh-TW" altLang="zh-TW" sz="2400" dirty="0">
                <a:effectLst/>
                <a:latin typeface="Arial" panose="020B0604020202020204" pitchFamily="34" charset="0"/>
                <a:ea typeface="標楷體" panose="03000509000000000000" pitchFamily="65" charset="-120"/>
                <a:cs typeface="Arial" panose="020B0604020202020204" pitchFamily="34" charset="0"/>
              </a:rPr>
              <a:t>聚類</a:t>
            </a:r>
            <a:r>
              <a:rPr lang="zh-TW" altLang="en-US" sz="2400" dirty="0">
                <a:effectLst/>
                <a:latin typeface="Arial" panose="020B0604020202020204" pitchFamily="34" charset="0"/>
                <a:ea typeface="標楷體" panose="03000509000000000000" pitchFamily="65" charset="-120"/>
                <a:cs typeface="Arial" panose="020B0604020202020204" pitchFamily="34" charset="0"/>
              </a:rPr>
              <a:t>：</a:t>
            </a:r>
            <a:endParaRPr lang="en-US" altLang="zh-TW" sz="2400" dirty="0">
              <a:effectLst/>
              <a:latin typeface="Arial" panose="020B0604020202020204" pitchFamily="34" charset="0"/>
              <a:ea typeface="標楷體" panose="03000509000000000000" pitchFamily="65" charset="-120"/>
              <a:cs typeface="Arial" panose="020B0604020202020204" pitchFamily="34" charset="0"/>
            </a:endParaRPr>
          </a:p>
          <a:p>
            <a:r>
              <a:rPr lang="zh-TW" altLang="zh-TW" sz="2400" dirty="0">
                <a:latin typeface="Arial" panose="020B0604020202020204" pitchFamily="34" charset="0"/>
                <a:ea typeface="標楷體" panose="03000509000000000000" pitchFamily="65" charset="-120"/>
                <a:cs typeface="Arial" panose="020B0604020202020204" pitchFamily="34" charset="0"/>
              </a:rPr>
              <a:t>能夠自動將安全區域劃分成均勻分布的群集，生成的巡邏點數量可控且覆蓋完整，避免盲區或過於集中。</a:t>
            </a:r>
            <a:endParaRPr lang="en-US" altLang="zh-TW" sz="2400" dirty="0">
              <a:latin typeface="Arial" panose="020B0604020202020204" pitchFamily="34" charset="0"/>
              <a:ea typeface="標楷體" panose="03000509000000000000" pitchFamily="65" charset="-120"/>
              <a:cs typeface="Arial" panose="020B0604020202020204" pitchFamily="34" charset="0"/>
            </a:endParaRPr>
          </a:p>
          <a:p>
            <a:endParaRPr lang="en-US" altLang="zh-TW" sz="2400" dirty="0">
              <a:latin typeface="Arial" panose="020B0604020202020204" pitchFamily="34" charset="0"/>
              <a:ea typeface="標楷體" panose="03000509000000000000" pitchFamily="65" charset="-120"/>
              <a:cs typeface="Arial" panose="020B0604020202020204" pitchFamily="34" charset="0"/>
            </a:endParaRPr>
          </a:p>
          <a:p>
            <a:endParaRPr lang="en-US" altLang="zh-TW" sz="2400" dirty="0">
              <a:latin typeface="Arial" panose="020B0604020202020204" pitchFamily="34" charset="0"/>
              <a:ea typeface="標楷體" panose="03000509000000000000" pitchFamily="65" charset="-120"/>
              <a:cs typeface="Arial" panose="020B0604020202020204" pitchFamily="34" charset="0"/>
            </a:endParaRPr>
          </a:p>
          <a:p>
            <a:endParaRPr lang="en-US" altLang="zh-TW" sz="2400" dirty="0">
              <a:latin typeface="Arial" panose="020B0604020202020204" pitchFamily="34" charset="0"/>
              <a:ea typeface="標楷體" panose="03000509000000000000" pitchFamily="65" charset="-120"/>
              <a:cs typeface="Arial" panose="020B0604020202020204" pitchFamily="34" charset="0"/>
            </a:endParaRPr>
          </a:p>
          <a:p>
            <a:r>
              <a:rPr lang="zh-TW" altLang="zh-TW" sz="2400" dirty="0">
                <a:latin typeface="Arial" panose="020B0604020202020204" pitchFamily="34" charset="0"/>
                <a:ea typeface="標楷體" panose="03000509000000000000" pitchFamily="65" charset="-120"/>
                <a:cs typeface="Arial" panose="020B0604020202020204" pitchFamily="34" charset="0"/>
              </a:rPr>
              <a:t>遺傳演算法</a:t>
            </a:r>
            <a:r>
              <a:rPr lang="en-US" altLang="zh-TW" sz="2400" dirty="0">
                <a:latin typeface="Arial" panose="020B0604020202020204" pitchFamily="34" charset="0"/>
                <a:ea typeface="標楷體" panose="03000509000000000000" pitchFamily="65" charset="-120"/>
                <a:cs typeface="Arial" panose="020B0604020202020204" pitchFamily="34" charset="0"/>
              </a:rPr>
              <a:t>(GA)</a:t>
            </a:r>
            <a:r>
              <a:rPr lang="zh-TW" altLang="en-US" sz="2400" dirty="0">
                <a:latin typeface="Arial" panose="020B0604020202020204" pitchFamily="34" charset="0"/>
                <a:ea typeface="標楷體" panose="03000509000000000000" pitchFamily="65" charset="-120"/>
                <a:cs typeface="Arial" panose="020B0604020202020204" pitchFamily="34" charset="0"/>
              </a:rPr>
              <a:t>：</a:t>
            </a:r>
            <a:endParaRPr lang="en-US" altLang="zh-TW" sz="2400" dirty="0">
              <a:latin typeface="Arial" panose="020B0604020202020204" pitchFamily="34" charset="0"/>
              <a:ea typeface="標楷體" panose="03000509000000000000" pitchFamily="65" charset="-120"/>
              <a:cs typeface="Arial" panose="020B0604020202020204" pitchFamily="34" charset="0"/>
            </a:endParaRPr>
          </a:p>
          <a:p>
            <a:r>
              <a:rPr lang="zh-TW" altLang="zh-TW" sz="2400" dirty="0">
                <a:latin typeface="Arial" panose="020B0604020202020204" pitchFamily="34" charset="0"/>
                <a:ea typeface="標楷體" panose="03000509000000000000" pitchFamily="65" charset="-120"/>
                <a:cs typeface="Arial" panose="020B0604020202020204" pitchFamily="34" charset="0"/>
              </a:rPr>
              <a:t>用於優化路徑順序，使總路徑長度最短並符合可行性</a:t>
            </a:r>
            <a:r>
              <a:rPr lang="zh-TW" altLang="en-US" sz="2400" dirty="0">
                <a:latin typeface="Arial" panose="020B0604020202020204" pitchFamily="34" charset="0"/>
                <a:ea typeface="標楷體" panose="03000509000000000000" pitchFamily="65" charset="-120"/>
                <a:cs typeface="Arial" panose="020B0604020202020204" pitchFamily="34" charset="0"/>
              </a:rPr>
              <a:t>，並</a:t>
            </a:r>
            <a:r>
              <a:rPr lang="zh-TW" altLang="zh-TW" sz="2400" dirty="0">
                <a:latin typeface="Arial" panose="020B0604020202020204" pitchFamily="34" charset="0"/>
                <a:ea typeface="標楷體" panose="03000509000000000000" pitchFamily="65" charset="-120"/>
                <a:cs typeface="Arial" panose="020B0604020202020204" pitchFamily="34" charset="0"/>
              </a:rPr>
              <a:t>確保路徑轉向平滑、安全。</a:t>
            </a:r>
            <a:endParaRPr lang="zh-TW" altLang="en-US" sz="2400" dirty="0">
              <a:latin typeface="Arial" panose="020B0604020202020204" pitchFamily="34" charset="0"/>
              <a:ea typeface="標楷體" panose="03000509000000000000" pitchFamily="65" charset="-120"/>
              <a:cs typeface="Arial" panose="020B0604020202020204" pitchFamily="34" charset="0"/>
            </a:endParaRPr>
          </a:p>
        </p:txBody>
      </p:sp>
      <mc:AlternateContent xmlns:mc="http://schemas.openxmlformats.org/markup-compatibility/2006" xmlns:a14="http://schemas.microsoft.com/office/drawing/2010/main">
        <mc:Choice Requires="a14">
          <p:sp>
            <p:nvSpPr>
              <p:cNvPr id="31" name="文字方塊 30">
                <a:extLst>
                  <a:ext uri="{FF2B5EF4-FFF2-40B4-BE49-F238E27FC236}">
                    <a16:creationId xmlns:a16="http://schemas.microsoft.com/office/drawing/2014/main" id="{B867B0B7-F36A-4B59-02BD-FCA174EEFB96}"/>
                  </a:ext>
                </a:extLst>
              </p:cNvPr>
              <p:cNvSpPr txBox="1"/>
              <p:nvPr/>
            </p:nvSpPr>
            <p:spPr>
              <a:xfrm>
                <a:off x="1095644" y="26700561"/>
                <a:ext cx="3961188" cy="91505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zh-TW" altLang="zh-TW" i="1">
                              <a:latin typeface="Cambria Math" panose="02040503050406030204" pitchFamily="18" charset="0"/>
                            </a:rPr>
                          </m:ctrlPr>
                        </m:funcPr>
                        <m:fName>
                          <m:r>
                            <m:rPr>
                              <m:sty m:val="p"/>
                            </m:rPr>
                            <a:rPr lang="en-US" altLang="zh-TW">
                              <a:latin typeface="Cambria Math" panose="02040503050406030204" pitchFamily="18" charset="0"/>
                            </a:rPr>
                            <m:t>arg</m:t>
                          </m:r>
                        </m:fName>
                        <m:e>
                          <m:func>
                            <m:funcPr>
                              <m:ctrlPr>
                                <a:rPr lang="zh-TW" altLang="zh-TW" i="1">
                                  <a:latin typeface="Cambria Math" panose="02040503050406030204" pitchFamily="18" charset="0"/>
                                </a:rPr>
                              </m:ctrlPr>
                            </m:funcPr>
                            <m:fName>
                              <m:limLow>
                                <m:limLowPr>
                                  <m:ctrlPr>
                                    <a:rPr lang="zh-TW" altLang="zh-TW" i="1">
                                      <a:latin typeface="Cambria Math" panose="02040503050406030204" pitchFamily="18" charset="0"/>
                                    </a:rPr>
                                  </m:ctrlPr>
                                </m:limLowPr>
                                <m:e>
                                  <m:r>
                                    <m:rPr>
                                      <m:sty m:val="p"/>
                                    </m:rPr>
                                    <a:rPr lang="en-US" altLang="zh-TW">
                                      <a:latin typeface="Cambria Math" panose="02040503050406030204" pitchFamily="18" charset="0"/>
                                    </a:rPr>
                                    <m:t>min</m:t>
                                  </m:r>
                                </m:e>
                                <m:lim>
                                  <m:r>
                                    <m:rPr>
                                      <m:sty m:val="p"/>
                                    </m:rPr>
                                    <a:rPr lang="en-US" altLang="zh-TW">
                                      <a:latin typeface="Cambria Math" panose="02040503050406030204" pitchFamily="18" charset="0"/>
                                    </a:rPr>
                                    <m:t>C</m:t>
                                  </m:r>
                                </m:lim>
                              </m:limLow>
                            </m:fName>
                            <m:e>
                              <m:nary>
                                <m:naryPr>
                                  <m:chr m:val="∑"/>
                                  <m:ctrlPr>
                                    <a:rPr lang="zh-TW" altLang="zh-TW" i="1">
                                      <a:latin typeface="Cambria Math" panose="02040503050406030204" pitchFamily="18" charset="0"/>
                                    </a:rPr>
                                  </m:ctrlPr>
                                </m:naryPr>
                                <m:sub>
                                  <m:r>
                                    <m:rPr>
                                      <m:sty m:val="p"/>
                                    </m:rPr>
                                    <a:rPr lang="en-US" altLang="zh-TW">
                                      <a:latin typeface="Cambria Math" panose="02040503050406030204" pitchFamily="18" charset="0"/>
                                    </a:rPr>
                                    <m:t>i</m:t>
                                  </m:r>
                                  <m:r>
                                    <a:rPr lang="en-US" altLang="zh-TW">
                                      <a:latin typeface="Cambria Math" panose="02040503050406030204" pitchFamily="18" charset="0"/>
                                    </a:rPr>
                                    <m:t>=1</m:t>
                                  </m:r>
                                </m:sub>
                                <m:sup>
                                  <m:r>
                                    <m:rPr>
                                      <m:sty m:val="p"/>
                                    </m:rPr>
                                    <a:rPr lang="en-US" altLang="zh-TW">
                                      <a:latin typeface="Cambria Math" panose="02040503050406030204" pitchFamily="18" charset="0"/>
                                    </a:rPr>
                                    <m:t>k</m:t>
                                  </m:r>
                                </m:sup>
                                <m:e>
                                  <m:nary>
                                    <m:naryPr>
                                      <m:chr m:val="∑"/>
                                      <m:supHide m:val="on"/>
                                      <m:ctrlPr>
                                        <a:rPr lang="zh-TW" altLang="zh-TW" i="1">
                                          <a:latin typeface="Cambria Math" panose="02040503050406030204" pitchFamily="18" charset="0"/>
                                        </a:rPr>
                                      </m:ctrlPr>
                                    </m:naryPr>
                                    <m:sub>
                                      <m:r>
                                        <m:rPr>
                                          <m:sty m:val="p"/>
                                        </m:rPr>
                                        <a:rPr lang="en-US" altLang="zh-TW">
                                          <a:latin typeface="Cambria Math" panose="02040503050406030204" pitchFamily="18" charset="0"/>
                                        </a:rPr>
                                        <m:t>x</m:t>
                                      </m:r>
                                      <m:r>
                                        <a:rPr lang="en-US" altLang="zh-TW">
                                          <a:latin typeface="Cambria Math" panose="02040503050406030204" pitchFamily="18" charset="0"/>
                                        </a:rPr>
                                        <m:t>∈</m:t>
                                      </m:r>
                                      <m:sSub>
                                        <m:sSubPr>
                                          <m:ctrlPr>
                                            <a:rPr lang="zh-TW" altLang="zh-TW" i="1">
                                              <a:latin typeface="Cambria Math" panose="02040503050406030204" pitchFamily="18" charset="0"/>
                                            </a:rPr>
                                          </m:ctrlPr>
                                        </m:sSubPr>
                                        <m:e>
                                          <m:r>
                                            <m:rPr>
                                              <m:sty m:val="p"/>
                                            </m:rPr>
                                            <a:rPr lang="en-US" altLang="zh-TW">
                                              <a:latin typeface="Cambria Math" panose="02040503050406030204" pitchFamily="18" charset="0"/>
                                            </a:rPr>
                                            <m:t>C</m:t>
                                          </m:r>
                                        </m:e>
                                        <m:sub>
                                          <m:r>
                                            <m:rPr>
                                              <m:sty m:val="p"/>
                                            </m:rPr>
                                            <a:rPr lang="en-US" altLang="zh-TW">
                                              <a:latin typeface="Cambria Math" panose="02040503050406030204" pitchFamily="18" charset="0"/>
                                            </a:rPr>
                                            <m:t>i</m:t>
                                          </m:r>
                                        </m:sub>
                                      </m:sSub>
                                    </m:sub>
                                    <m:sup/>
                                    <m:e>
                                      <m:r>
                                        <m:rPr>
                                          <m:lit/>
                                        </m:rPr>
                                        <a:rPr lang="en-US" altLang="zh-TW">
                                          <a:latin typeface="Cambria Math" panose="02040503050406030204" pitchFamily="18" charset="0"/>
                                        </a:rPr>
                                        <m:t>|</m:t>
                                      </m:r>
                                      <m:r>
                                        <m:rPr>
                                          <m:sty m:val="p"/>
                                        </m:rPr>
                                        <a:rPr lang="en-US" altLang="zh-TW">
                                          <a:latin typeface="Cambria Math" panose="02040503050406030204" pitchFamily="18" charset="0"/>
                                        </a:rPr>
                                        <m:t>x</m:t>
                                      </m:r>
                                    </m:e>
                                  </m:nary>
                                </m:e>
                              </m:nary>
                            </m:e>
                          </m:func>
                        </m:e>
                      </m:func>
                      <m:r>
                        <a:rPr lang="en-US" altLang="zh-TW" i="1">
                          <a:latin typeface="Cambria Math" panose="02040503050406030204" pitchFamily="18" charset="0"/>
                        </a:rPr>
                        <m:t>−</m:t>
                      </m:r>
                      <m:sSub>
                        <m:sSubPr>
                          <m:ctrlPr>
                            <a:rPr lang="zh-TW" altLang="zh-TW" i="1">
                              <a:latin typeface="Cambria Math" panose="02040503050406030204" pitchFamily="18" charset="0"/>
                            </a:rPr>
                          </m:ctrlPr>
                        </m:sSubPr>
                        <m:e>
                          <m:r>
                            <m:rPr>
                              <m:sty m:val="p"/>
                            </m:rPr>
                            <a:rPr lang="en-US" altLang="zh-TW">
                              <a:latin typeface="Cambria Math" panose="02040503050406030204" pitchFamily="18" charset="0"/>
                            </a:rPr>
                            <m:t>μ</m:t>
                          </m:r>
                        </m:e>
                        <m:sub>
                          <m:r>
                            <m:rPr>
                              <m:sty m:val="p"/>
                            </m:rPr>
                            <a:rPr lang="en-US" altLang="zh-TW">
                              <a:latin typeface="Cambria Math" panose="02040503050406030204" pitchFamily="18" charset="0"/>
                            </a:rPr>
                            <m:t>i</m:t>
                          </m:r>
                        </m:sub>
                      </m:sSub>
                      <m:sSup>
                        <m:sSupPr>
                          <m:ctrlPr>
                            <a:rPr lang="zh-TW" altLang="zh-TW" i="1">
                              <a:latin typeface="Cambria Math" panose="02040503050406030204" pitchFamily="18" charset="0"/>
                            </a:rPr>
                          </m:ctrlPr>
                        </m:sSupPr>
                        <m:e>
                          <m:r>
                            <m:rPr>
                              <m:lit/>
                            </m:rPr>
                            <a:rPr lang="en-US" altLang="zh-TW">
                              <a:latin typeface="Cambria Math" panose="02040503050406030204" pitchFamily="18" charset="0"/>
                            </a:rPr>
                            <m:t>|</m:t>
                          </m:r>
                        </m:e>
                        <m:sup>
                          <m:r>
                            <a:rPr lang="en-US" altLang="zh-TW">
                              <a:latin typeface="Cambria Math" panose="02040503050406030204" pitchFamily="18" charset="0"/>
                            </a:rPr>
                            <m:t>2</m:t>
                          </m:r>
                        </m:sup>
                      </m:sSup>
                    </m:oMath>
                  </m:oMathPara>
                </a14:m>
                <a:endParaRPr lang="zh-TW" altLang="zh-TW" dirty="0">
                  <a:latin typeface="Arial" panose="020B0604020202020204" pitchFamily="34" charset="0"/>
                  <a:ea typeface="標楷體" panose="03000509000000000000" pitchFamily="65" charset="-120"/>
                  <a:cs typeface="Arial" panose="020B0604020202020204" pitchFamily="34" charset="0"/>
                </a:endParaRPr>
              </a:p>
            </p:txBody>
          </p:sp>
        </mc:Choice>
        <mc:Fallback xmlns="">
          <p:sp>
            <p:nvSpPr>
              <p:cNvPr id="31" name="文字方塊 30">
                <a:extLst>
                  <a:ext uri="{FF2B5EF4-FFF2-40B4-BE49-F238E27FC236}">
                    <a16:creationId xmlns:a16="http://schemas.microsoft.com/office/drawing/2014/main" id="{B867B0B7-F36A-4B59-02BD-FCA174EEFB96}"/>
                  </a:ext>
                </a:extLst>
              </p:cNvPr>
              <p:cNvSpPr txBox="1">
                <a:spLocks noRot="1" noChangeAspect="1" noMove="1" noResize="1" noEditPoints="1" noAdjustHandles="1" noChangeArrowheads="1" noChangeShapeType="1" noTextEdit="1"/>
              </p:cNvSpPr>
              <p:nvPr/>
            </p:nvSpPr>
            <p:spPr>
              <a:xfrm>
                <a:off x="1095644" y="26700561"/>
                <a:ext cx="3961188" cy="915059"/>
              </a:xfrm>
              <a:prstGeom prst="rect">
                <a:avLst/>
              </a:prstGeom>
              <a:blipFill>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3" name="文字方塊 32">
                <a:extLst>
                  <a:ext uri="{FF2B5EF4-FFF2-40B4-BE49-F238E27FC236}">
                    <a16:creationId xmlns:a16="http://schemas.microsoft.com/office/drawing/2014/main" id="{B15C74EB-9584-4897-C11A-490D01BAD59C}"/>
                  </a:ext>
                </a:extLst>
              </p:cNvPr>
              <p:cNvSpPr txBox="1"/>
              <p:nvPr/>
            </p:nvSpPr>
            <p:spPr>
              <a:xfrm>
                <a:off x="5246142" y="28529070"/>
                <a:ext cx="4489450" cy="6350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zh-TW" altLang="en-US" smtClean="0">
                          <a:latin typeface="Cambria Math" panose="02040503050406030204" pitchFamily="18" charset="0"/>
                        </a:rPr>
                        <m:t>f</m:t>
                      </m:r>
                      <m:d>
                        <m:dPr>
                          <m:ctrlPr>
                            <a:rPr lang="zh-TW" altLang="en-US" i="1">
                              <a:latin typeface="Cambria Math" panose="02040503050406030204" pitchFamily="18" charset="0"/>
                            </a:rPr>
                          </m:ctrlPr>
                        </m:dPr>
                        <m:e>
                          <m:r>
                            <m:rPr>
                              <m:nor/>
                            </m:rPr>
                            <a:rPr lang="zh-TW" altLang="en-US" b="0" i="1">
                              <a:latin typeface="Arial" panose="020B0604020202020204" pitchFamily="34" charset="0"/>
                              <a:ea typeface="標楷體" panose="03000509000000000000" pitchFamily="65" charset="-120"/>
                              <a:cs typeface="Arial" panose="020B0604020202020204" pitchFamily="34" charset="0"/>
                            </a:rPr>
                            <m:t>route</m:t>
                          </m:r>
                        </m:e>
                      </m:d>
                      <m:r>
                        <a:rPr lang="zh-TW" altLang="en-US" b="0" i="0">
                          <a:latin typeface="Cambria Math" panose="02040503050406030204" pitchFamily="18" charset="0"/>
                        </a:rPr>
                        <m:t>=</m:t>
                      </m:r>
                      <m:nary>
                        <m:naryPr>
                          <m:chr m:val="∑"/>
                          <m:limLoc m:val="subSup"/>
                          <m:ctrlPr>
                            <a:rPr lang="zh-TW" altLang="en-US" b="0" i="1">
                              <a:latin typeface="Cambria Math" panose="02040503050406030204" pitchFamily="18" charset="0"/>
                            </a:rPr>
                          </m:ctrlPr>
                        </m:naryPr>
                        <m:sub>
                          <m:r>
                            <m:rPr>
                              <m:sty m:val="p"/>
                            </m:rPr>
                            <a:rPr lang="zh-TW" altLang="en-US" b="0" i="0">
                              <a:latin typeface="Cambria Math" panose="02040503050406030204" pitchFamily="18" charset="0"/>
                            </a:rPr>
                            <m:t>i</m:t>
                          </m:r>
                          <m:r>
                            <a:rPr lang="zh-TW" altLang="en-US" b="0" i="0">
                              <a:latin typeface="Cambria Math" panose="02040503050406030204" pitchFamily="18" charset="0"/>
                            </a:rPr>
                            <m:t>=1</m:t>
                          </m:r>
                        </m:sub>
                        <m:sup>
                          <m:r>
                            <m:rPr>
                              <m:sty m:val="p"/>
                            </m:rPr>
                            <a:rPr lang="zh-TW" altLang="en-US" b="0" i="0">
                              <a:latin typeface="Cambria Math" panose="02040503050406030204" pitchFamily="18" charset="0"/>
                            </a:rPr>
                            <m:t>n</m:t>
                          </m:r>
                        </m:sup>
                        <m:e>
                          <m:r>
                            <m:rPr>
                              <m:sty m:val="p"/>
                            </m:rPr>
                            <a:rPr lang="zh-TW" altLang="en-US" b="0" i="0">
                              <a:latin typeface="Cambria Math" panose="02040503050406030204" pitchFamily="18" charset="0"/>
                            </a:rPr>
                            <m:t>d</m:t>
                          </m:r>
                          <m:d>
                            <m:dPr>
                              <m:ctrlPr>
                                <a:rPr lang="zh-TW" altLang="en-US" b="0" i="1">
                                  <a:latin typeface="Cambria Math" panose="02040503050406030204" pitchFamily="18" charset="0"/>
                                </a:rPr>
                              </m:ctrlPr>
                            </m:dPr>
                            <m:e>
                              <m:sSub>
                                <m:sSubPr>
                                  <m:ctrlPr>
                                    <a:rPr lang="zh-TW" altLang="en-US" b="0" i="1">
                                      <a:latin typeface="Cambria Math" panose="02040503050406030204" pitchFamily="18" charset="0"/>
                                    </a:rPr>
                                  </m:ctrlPr>
                                </m:sSubPr>
                                <m:e>
                                  <m:r>
                                    <m:rPr>
                                      <m:sty m:val="p"/>
                                    </m:rPr>
                                    <a:rPr lang="zh-TW" altLang="en-US" b="0" i="0">
                                      <a:latin typeface="Cambria Math" panose="02040503050406030204" pitchFamily="18" charset="0"/>
                                    </a:rPr>
                                    <m:t>P</m:t>
                                  </m:r>
                                </m:e>
                                <m:sub>
                                  <m:r>
                                    <m:rPr>
                                      <m:sty m:val="p"/>
                                    </m:rPr>
                                    <a:rPr lang="zh-TW" altLang="en-US" b="0" i="0">
                                      <a:latin typeface="Cambria Math" panose="02040503050406030204" pitchFamily="18" charset="0"/>
                                    </a:rPr>
                                    <m:t>i</m:t>
                                  </m:r>
                                </m:sub>
                              </m:sSub>
                              <m:r>
                                <a:rPr lang="zh-TW" altLang="en-US" b="0" i="0">
                                  <a:latin typeface="Cambria Math" panose="02040503050406030204" pitchFamily="18" charset="0"/>
                                </a:rPr>
                                <m:t>,</m:t>
                              </m:r>
                              <m:sSub>
                                <m:sSubPr>
                                  <m:ctrlPr>
                                    <a:rPr lang="zh-TW" altLang="en-US" b="0" i="1">
                                      <a:latin typeface="Cambria Math" panose="02040503050406030204" pitchFamily="18" charset="0"/>
                                    </a:rPr>
                                  </m:ctrlPr>
                                </m:sSubPr>
                                <m:e>
                                  <m:r>
                                    <m:rPr>
                                      <m:sty m:val="p"/>
                                    </m:rPr>
                                    <a:rPr lang="zh-TW" altLang="en-US" b="0" i="0">
                                      <a:latin typeface="Cambria Math" panose="02040503050406030204" pitchFamily="18" charset="0"/>
                                    </a:rPr>
                                    <m:t>P</m:t>
                                  </m:r>
                                </m:e>
                                <m:sub>
                                  <m:r>
                                    <m:rPr>
                                      <m:sty m:val="p"/>
                                    </m:rPr>
                                    <a:rPr lang="zh-TW" altLang="en-US" b="0" i="0">
                                      <a:latin typeface="Cambria Math" panose="02040503050406030204" pitchFamily="18" charset="0"/>
                                    </a:rPr>
                                    <m:t>i</m:t>
                                  </m:r>
                                  <m:r>
                                    <a:rPr lang="zh-TW" altLang="en-US" b="0" i="0">
                                      <a:latin typeface="Cambria Math" panose="02040503050406030204" pitchFamily="18" charset="0"/>
                                    </a:rPr>
                                    <m:t>+1</m:t>
                                  </m:r>
                                </m:sub>
                              </m:sSub>
                            </m:e>
                          </m:d>
                        </m:e>
                      </m:nary>
                      <m:r>
                        <a:rPr lang="zh-TW" altLang="en-US" b="0" i="0">
                          <a:latin typeface="Cambria Math" panose="02040503050406030204" pitchFamily="18" charset="0"/>
                        </a:rPr>
                        <m:t>+</m:t>
                      </m:r>
                      <m:r>
                        <m:rPr>
                          <m:nor/>
                        </m:rPr>
                        <a:rPr lang="zh-TW" altLang="en-US" b="0" i="1">
                          <a:latin typeface="Arial" panose="020B0604020202020204" pitchFamily="34" charset="0"/>
                          <a:ea typeface="標楷體" panose="03000509000000000000" pitchFamily="65" charset="-120"/>
                          <a:cs typeface="Arial" panose="020B0604020202020204" pitchFamily="34" charset="0"/>
                        </a:rPr>
                        <m:t>penalty</m:t>
                      </m:r>
                    </m:oMath>
                  </m:oMathPara>
                </a14:m>
                <a:endParaRPr lang="zh-TW" altLang="en-US" dirty="0">
                  <a:latin typeface="Arial" panose="020B0604020202020204" pitchFamily="34" charset="0"/>
                  <a:ea typeface="標楷體" panose="03000509000000000000" pitchFamily="65" charset="-120"/>
                  <a:cs typeface="Arial" panose="020B0604020202020204" pitchFamily="34" charset="0"/>
                </a:endParaRPr>
              </a:p>
            </p:txBody>
          </p:sp>
        </mc:Choice>
        <mc:Fallback xmlns="">
          <p:sp>
            <p:nvSpPr>
              <p:cNvPr id="33" name="文字方塊 32">
                <a:extLst>
                  <a:ext uri="{FF2B5EF4-FFF2-40B4-BE49-F238E27FC236}">
                    <a16:creationId xmlns:a16="http://schemas.microsoft.com/office/drawing/2014/main" id="{B15C74EB-9584-4897-C11A-490D01BAD59C}"/>
                  </a:ext>
                </a:extLst>
              </p:cNvPr>
              <p:cNvSpPr txBox="1">
                <a:spLocks noRot="1" noChangeAspect="1" noMove="1" noResize="1" noEditPoints="1" noAdjustHandles="1" noChangeArrowheads="1" noChangeShapeType="1" noTextEdit="1"/>
              </p:cNvSpPr>
              <p:nvPr/>
            </p:nvSpPr>
            <p:spPr>
              <a:xfrm>
                <a:off x="5246142" y="28529070"/>
                <a:ext cx="4489450" cy="635046"/>
              </a:xfrm>
              <a:prstGeom prst="rect">
                <a:avLst/>
              </a:prstGeom>
              <a:blipFill>
                <a:blip r:embed="rId3"/>
                <a:stretch>
                  <a:fillRect/>
                </a:stretch>
              </a:blipFill>
            </p:spPr>
            <p:txBody>
              <a:bodyPr/>
              <a:lstStyle/>
              <a:p>
                <a:r>
                  <a:rPr lang="zh-TW" altLang="en-US">
                    <a:noFill/>
                  </a:rPr>
                  <a:t> </a:t>
                </a:r>
              </a:p>
            </p:txBody>
          </p:sp>
        </mc:Fallback>
      </mc:AlternateContent>
      <p:pic>
        <p:nvPicPr>
          <p:cNvPr id="39" name="圖片 38">
            <a:extLst>
              <a:ext uri="{FF2B5EF4-FFF2-40B4-BE49-F238E27FC236}">
                <a16:creationId xmlns:a16="http://schemas.microsoft.com/office/drawing/2014/main" id="{D350F6A1-E54B-7080-EAC9-A53B3845D2DF}"/>
              </a:ext>
            </a:extLst>
          </p:cNvPr>
          <p:cNvPicPr>
            <a:picLocks noChangeAspect="1"/>
          </p:cNvPicPr>
          <p:nvPr/>
        </p:nvPicPr>
        <p:blipFill>
          <a:blip r:embed="rId4"/>
          <a:stretch>
            <a:fillRect/>
          </a:stretch>
        </p:blipFill>
        <p:spPr>
          <a:xfrm>
            <a:off x="5141893" y="24249852"/>
            <a:ext cx="4880272" cy="3926443"/>
          </a:xfrm>
          <a:prstGeom prst="rect">
            <a:avLst/>
          </a:prstGeom>
        </p:spPr>
      </p:pic>
      <p:pic>
        <p:nvPicPr>
          <p:cNvPr id="42" name="圖片 41">
            <a:extLst>
              <a:ext uri="{FF2B5EF4-FFF2-40B4-BE49-F238E27FC236}">
                <a16:creationId xmlns:a16="http://schemas.microsoft.com/office/drawing/2014/main" id="{889A066B-CFAD-8C03-CBF1-B2A2CEA2D785}"/>
              </a:ext>
            </a:extLst>
          </p:cNvPr>
          <p:cNvPicPr>
            <a:picLocks noChangeAspect="1"/>
          </p:cNvPicPr>
          <p:nvPr/>
        </p:nvPicPr>
        <p:blipFill>
          <a:blip r:embed="rId5">
            <a:extLst>
              <a:ext uri="{28A0092B-C50C-407E-A947-70E740481C1C}">
                <a14:useLocalDpi xmlns:a14="http://schemas.microsoft.com/office/drawing/2010/main" val="0"/>
              </a:ext>
            </a:extLst>
          </a:blip>
          <a:srcRect t="3421"/>
          <a:stretch>
            <a:fillRect/>
          </a:stretch>
        </p:blipFill>
        <p:spPr bwMode="auto">
          <a:xfrm>
            <a:off x="12163812" y="13269669"/>
            <a:ext cx="7523972" cy="4915523"/>
          </a:xfrm>
          <a:prstGeom prst="rect">
            <a:avLst/>
          </a:prstGeom>
          <a:noFill/>
          <a:ln>
            <a:noFill/>
          </a:ln>
        </p:spPr>
      </p:pic>
      <p:sp>
        <p:nvSpPr>
          <p:cNvPr id="52" name="六邊形 51">
            <a:extLst>
              <a:ext uri="{FF2B5EF4-FFF2-40B4-BE49-F238E27FC236}">
                <a16:creationId xmlns:a16="http://schemas.microsoft.com/office/drawing/2014/main" id="{049DFDFF-B420-3A10-4314-A87E77A84F0D}"/>
              </a:ext>
            </a:extLst>
          </p:cNvPr>
          <p:cNvSpPr/>
          <p:nvPr/>
        </p:nvSpPr>
        <p:spPr>
          <a:xfrm>
            <a:off x="8088298" y="4530515"/>
            <a:ext cx="4695830" cy="1138951"/>
          </a:xfrm>
          <a:prstGeom prst="hexag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5000" dirty="0">
                <a:latin typeface="Arial" panose="020B0604020202020204" pitchFamily="34" charset="0"/>
                <a:ea typeface="標楷體" panose="03000509000000000000" pitchFamily="65" charset="-120"/>
                <a:cs typeface="Arial" panose="020B0604020202020204" pitchFamily="34" charset="0"/>
              </a:rPr>
              <a:t>摘 要</a:t>
            </a:r>
          </a:p>
        </p:txBody>
      </p:sp>
      <p:sp>
        <p:nvSpPr>
          <p:cNvPr id="57" name="矩形 56">
            <a:extLst>
              <a:ext uri="{FF2B5EF4-FFF2-40B4-BE49-F238E27FC236}">
                <a16:creationId xmlns:a16="http://schemas.microsoft.com/office/drawing/2014/main" id="{68D33C43-C218-C184-7BB6-19D538F2D64B}"/>
              </a:ext>
            </a:extLst>
          </p:cNvPr>
          <p:cNvSpPr/>
          <p:nvPr/>
        </p:nvSpPr>
        <p:spPr>
          <a:xfrm>
            <a:off x="12754631" y="23481566"/>
            <a:ext cx="6361121" cy="13799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60" name="矩形 59">
            <a:extLst>
              <a:ext uri="{FF2B5EF4-FFF2-40B4-BE49-F238E27FC236}">
                <a16:creationId xmlns:a16="http://schemas.microsoft.com/office/drawing/2014/main" id="{E9516C2B-2F5B-3AA9-C376-B93105673AED}"/>
              </a:ext>
            </a:extLst>
          </p:cNvPr>
          <p:cNvSpPr/>
          <p:nvPr/>
        </p:nvSpPr>
        <p:spPr>
          <a:xfrm>
            <a:off x="9806182" y="16446750"/>
            <a:ext cx="1857038" cy="33208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pic>
        <p:nvPicPr>
          <p:cNvPr id="23" name="圖片 22">
            <a:extLst>
              <a:ext uri="{FF2B5EF4-FFF2-40B4-BE49-F238E27FC236}">
                <a16:creationId xmlns:a16="http://schemas.microsoft.com/office/drawing/2014/main" id="{56B07A5F-0AE6-BC43-FCF7-7D43851A2175}"/>
              </a:ext>
            </a:extLst>
          </p:cNvPr>
          <p:cNvPicPr>
            <a:picLocks noChangeAspect="1"/>
          </p:cNvPicPr>
          <p:nvPr/>
        </p:nvPicPr>
        <p:blipFill rotWithShape="1">
          <a:blip r:embed="rId6">
            <a:extLst>
              <a:ext uri="{28A0092B-C50C-407E-A947-70E740481C1C}">
                <a14:useLocalDpi xmlns:a14="http://schemas.microsoft.com/office/drawing/2010/main" val="0"/>
              </a:ext>
            </a:extLst>
          </a:blip>
          <a:srcRect l="31909" t="36193" r="6226" b="10463"/>
          <a:stretch>
            <a:fillRect/>
          </a:stretch>
        </p:blipFill>
        <p:spPr bwMode="auto">
          <a:xfrm>
            <a:off x="5481015" y="16728358"/>
            <a:ext cx="5694190" cy="2756667"/>
          </a:xfrm>
          <a:prstGeom prst="rect">
            <a:avLst/>
          </a:prstGeom>
          <a:noFill/>
          <a:ln>
            <a:noFill/>
          </a:ln>
          <a:extLst>
            <a:ext uri="{53640926-AAD7-44D8-BBD7-CCE9431645EC}">
              <a14:shadowObscured xmlns:a14="http://schemas.microsoft.com/office/drawing/2010/main"/>
            </a:ext>
          </a:extLst>
        </p:spPr>
      </p:pic>
      <p:cxnSp>
        <p:nvCxnSpPr>
          <p:cNvPr id="62" name="直線接點 61">
            <a:extLst>
              <a:ext uri="{FF2B5EF4-FFF2-40B4-BE49-F238E27FC236}">
                <a16:creationId xmlns:a16="http://schemas.microsoft.com/office/drawing/2014/main" id="{E82D4DA6-EB50-8A8C-D9BA-7C095140A97A}"/>
              </a:ext>
            </a:extLst>
          </p:cNvPr>
          <p:cNvCxnSpPr>
            <a:cxnSpLocks/>
          </p:cNvCxnSpPr>
          <p:nvPr/>
        </p:nvCxnSpPr>
        <p:spPr>
          <a:xfrm>
            <a:off x="9943306" y="16383943"/>
            <a:ext cx="1212056" cy="0"/>
          </a:xfrm>
          <a:prstGeom prst="line">
            <a:avLst/>
          </a:prstGeom>
          <a:ln w="127000"/>
        </p:spPr>
        <p:style>
          <a:lnRef idx="1">
            <a:schemeClr val="accent1"/>
          </a:lnRef>
          <a:fillRef idx="0">
            <a:schemeClr val="accent1"/>
          </a:fillRef>
          <a:effectRef idx="0">
            <a:schemeClr val="accent1"/>
          </a:effectRef>
          <a:fontRef idx="minor">
            <a:schemeClr val="tx1"/>
          </a:fontRef>
        </p:style>
      </p:cxnSp>
      <p:sp>
        <p:nvSpPr>
          <p:cNvPr id="76" name="矩形 75">
            <a:extLst>
              <a:ext uri="{FF2B5EF4-FFF2-40B4-BE49-F238E27FC236}">
                <a16:creationId xmlns:a16="http://schemas.microsoft.com/office/drawing/2014/main" id="{66BB337C-6B4A-0C1E-FD4B-4E1073EA3108}"/>
              </a:ext>
            </a:extLst>
          </p:cNvPr>
          <p:cNvSpPr/>
          <p:nvPr/>
        </p:nvSpPr>
        <p:spPr>
          <a:xfrm>
            <a:off x="10943672" y="26014439"/>
            <a:ext cx="1013506" cy="8432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pic>
        <p:nvPicPr>
          <p:cNvPr id="37" name="圖片 36">
            <a:extLst>
              <a:ext uri="{FF2B5EF4-FFF2-40B4-BE49-F238E27FC236}">
                <a16:creationId xmlns:a16="http://schemas.microsoft.com/office/drawing/2014/main" id="{C4AF6367-F195-CA1E-8A3B-C6FBB3443FB3}"/>
              </a:ext>
            </a:extLst>
          </p:cNvPr>
          <p:cNvPicPr/>
          <p:nvPr/>
        </p:nvPicPr>
        <p:blipFill>
          <a:blip r:embed="rId7">
            <a:extLst>
              <a:ext uri="{BEBA8EAE-BF5A-486C-A8C5-ECC9F3942E4B}">
                <a14:imgProps xmlns:a14="http://schemas.microsoft.com/office/drawing/2010/main">
                  <a14:imgLayer r:embed="rId8">
                    <a14:imgEffect>
                      <a14:backgroundRemoval t="9935" b="96498" l="4129" r="99550">
                        <a14:foregroundMark x1="73649" y1="86645" x2="70735" y2="93524"/>
                        <a14:foregroundMark x1="72334" y1="96755" x2="78228" y2="99267"/>
                        <a14:foregroundMark x1="78228" y1="99267" x2="82844" y2="96354"/>
                        <a14:foregroundMark x1="89339" y1="49267" x2="97375" y2="50845"/>
                        <a14:foregroundMark x1="96526" y1="65567" x2="96015" y2="70462"/>
                        <a14:foregroundMark x1="91892" y1="48371" x2="97370" y2="50892"/>
                        <a14:foregroundMark x1="96881" y1="65611" x2="95946" y2="67020"/>
                        <a14:foregroundMark x1="85135" y1="37296" x2="97857" y2="49729"/>
                        <a14:foregroundMark x1="7879" y1="43130" x2="4279" y2="40635"/>
                        <a14:foregroundMark x1="8942" y1="36908" x2="13046" y2="33628"/>
                        <a14:foregroundMark x1="4279" y1="40635" x2="8187" y2="37511"/>
                        <a14:foregroundMark x1="19820" y1="82492" x2="19441" y2="82846"/>
                        <a14:foregroundMark x1="13679" y1="92870" x2="18765" y2="94638"/>
                        <a14:foregroundMark x1="35705" y1="87117" x2="36637" y2="85179"/>
                        <a14:foregroundMark x1="36637" y1="85179" x2="35736" y2="84772"/>
                        <a14:foregroundMark x1="55330" y1="36808" x2="62087" y2="45358"/>
                        <a14:foregroundMark x1="62087" y1="45358" x2="59610" y2="35831"/>
                        <a14:foregroundMark x1="59610" y1="35831" x2="58709" y2="39821"/>
                        <a14:foregroundMark x1="13669" y1="94096" x2="15132" y2="94911"/>
                        <a14:foregroundMark x1="28880" y1="94637" x2="28303" y2="93811"/>
                        <a14:backgroundMark x1="85435" y1="95195" x2="97823" y2="79560"/>
                        <a14:backgroundMark x1="97823" y1="79560" x2="99925" y2="49511"/>
                        <a14:backgroundMark x1="99399" y1="49919" x2="97748" y2="65717"/>
                        <a14:backgroundMark x1="97072" y1="65554" x2="97072" y2="66694"/>
                        <a14:backgroundMark x1="96997" y1="70684" x2="93844" y2="86889"/>
                        <a14:backgroundMark x1="81907" y1="86645" x2="86336" y2="96173"/>
                        <a14:backgroundMark x1="83559" y1="86808" x2="92192" y2="88274"/>
                        <a14:backgroundMark x1="11787" y1="89821" x2="11712" y2="99511"/>
                        <a14:backgroundMark x1="17868" y1="82085" x2="11336" y2="89984"/>
                        <a14:backgroundMark x1="18844" y1="82492" x2="17793" y2="84365"/>
                        <a14:backgroundMark x1="13363" y1="96743" x2="23123" y2="96010"/>
                        <a14:backgroundMark x1="23123" y1="96010" x2="59685" y2="98779"/>
                        <a14:backgroundMark x1="59685" y1="98779" x2="60060" y2="98941"/>
                        <a14:backgroundMark x1="32958" y1="88111" x2="30856" y2="98371"/>
                        <a14:backgroundMark x1="30856" y1="98371" x2="30781" y2="98127"/>
                        <a14:backgroundMark x1="33634" y1="88925" x2="55255" y2="88029"/>
                        <a14:backgroundMark x1="55255" y1="88029" x2="67042" y2="90391"/>
                        <a14:backgroundMark x1="67342" y1="90635" x2="68994" y2="99104"/>
                        <a14:backgroundMark x1="69670" y1="93811" x2="70946" y2="99267"/>
                        <a14:backgroundMark x1="83859" y1="95440" x2="83559" y2="97394"/>
                        <a14:backgroundMark x1="9835" y1="44625" x2="9835" y2="44625"/>
                        <a14:backgroundMark x1="10060" y1="44544" x2="10210" y2="45603"/>
                        <a14:backgroundMark x1="9535" y1="44218" x2="9610" y2="45195"/>
                        <a14:backgroundMark x1="12387" y1="45847" x2="11862" y2="46498"/>
                        <a14:backgroundMark x1="13739" y1="33225" x2="13514" y2="33469"/>
                        <a14:backgroundMark x1="13514" y1="33143" x2="12913" y2="33469"/>
                        <a14:backgroundMark x1="13739" y1="32980" x2="13814" y2="33225"/>
                        <a14:backgroundMark x1="8333" y1="37052" x2="7958" y2="37215"/>
                        <a14:backgroundMark x1="8634" y1="36645" x2="8033" y2="37296"/>
                        <a14:backgroundMark x1="9384" y1="44218" x2="9234" y2="44300"/>
                        <a14:backgroundMark x1="9384" y1="44463" x2="9384" y2="44707"/>
                        <a14:backgroundMark x1="9535" y1="44218" x2="9009" y2="44870"/>
                        <a14:backgroundMark x1="9610" y1="44300" x2="9309" y2="44788"/>
                        <a14:backgroundMark x1="83559" y1="95521" x2="83258" y2="96498"/>
                      </a14:backgroundRemoval>
                    </a14:imgEffect>
                  </a14:imgLayer>
                </a14:imgProps>
              </a:ext>
              <a:ext uri="{28A0092B-C50C-407E-A947-70E740481C1C}">
                <a14:useLocalDpi xmlns:a14="http://schemas.microsoft.com/office/drawing/2010/main" val="0"/>
              </a:ext>
            </a:extLst>
          </a:blip>
          <a:srcRect t="24699"/>
          <a:stretch>
            <a:fillRect/>
          </a:stretch>
        </p:blipFill>
        <p:spPr bwMode="auto">
          <a:xfrm>
            <a:off x="13671173" y="22295763"/>
            <a:ext cx="4583594" cy="3572001"/>
          </a:xfrm>
          <a:prstGeom prst="rect">
            <a:avLst/>
          </a:prstGeom>
          <a:noFill/>
          <a:ln>
            <a:noFill/>
          </a:ln>
        </p:spPr>
      </p:pic>
      <p:grpSp>
        <p:nvGrpSpPr>
          <p:cNvPr id="87" name="群組 86">
            <a:extLst>
              <a:ext uri="{FF2B5EF4-FFF2-40B4-BE49-F238E27FC236}">
                <a16:creationId xmlns:a16="http://schemas.microsoft.com/office/drawing/2014/main" id="{446F2EFE-56B5-8516-80BB-D26D647B7A84}"/>
              </a:ext>
            </a:extLst>
          </p:cNvPr>
          <p:cNvGrpSpPr/>
          <p:nvPr/>
        </p:nvGrpSpPr>
        <p:grpSpPr>
          <a:xfrm>
            <a:off x="10508374" y="22675743"/>
            <a:ext cx="1941462" cy="1538234"/>
            <a:chOff x="10508374" y="22115304"/>
            <a:chExt cx="1941462" cy="1538234"/>
          </a:xfrm>
        </p:grpSpPr>
        <p:sp>
          <p:nvSpPr>
            <p:cNvPr id="81" name="矩形 80">
              <a:extLst>
                <a:ext uri="{FF2B5EF4-FFF2-40B4-BE49-F238E27FC236}">
                  <a16:creationId xmlns:a16="http://schemas.microsoft.com/office/drawing/2014/main" id="{3C5F43E4-971D-C196-FDB1-88B69E4923D8}"/>
                </a:ext>
              </a:extLst>
            </p:cNvPr>
            <p:cNvSpPr/>
            <p:nvPr/>
          </p:nvSpPr>
          <p:spPr>
            <a:xfrm rot="3102229">
              <a:off x="10924144" y="22127847"/>
              <a:ext cx="1109921" cy="194146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82" name="等腰三角形 81">
              <a:extLst>
                <a:ext uri="{FF2B5EF4-FFF2-40B4-BE49-F238E27FC236}">
                  <a16:creationId xmlns:a16="http://schemas.microsoft.com/office/drawing/2014/main" id="{F79004C7-E3F0-A06A-B796-576B29DF4873}"/>
                </a:ext>
              </a:extLst>
            </p:cNvPr>
            <p:cNvSpPr/>
            <p:nvPr/>
          </p:nvSpPr>
          <p:spPr>
            <a:xfrm rot="13923107">
              <a:off x="11113983" y="22211475"/>
              <a:ext cx="1394488" cy="120214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grpSp>
      <p:pic>
        <p:nvPicPr>
          <p:cNvPr id="93" name="圖形 92" descr="單一齒輪">
            <a:extLst>
              <a:ext uri="{FF2B5EF4-FFF2-40B4-BE49-F238E27FC236}">
                <a16:creationId xmlns:a16="http://schemas.microsoft.com/office/drawing/2014/main" id="{D5B5EAC4-FBA4-D85A-2EA9-A3DD6CE8256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661471">
            <a:off x="10781110" y="25655936"/>
            <a:ext cx="1186909" cy="1186909"/>
          </a:xfrm>
          <a:prstGeom prst="rect">
            <a:avLst/>
          </a:prstGeom>
        </p:spPr>
      </p:pic>
      <p:pic>
        <p:nvPicPr>
          <p:cNvPr id="95" name="圖形 94" descr="劇本">
            <a:extLst>
              <a:ext uri="{FF2B5EF4-FFF2-40B4-BE49-F238E27FC236}">
                <a16:creationId xmlns:a16="http://schemas.microsoft.com/office/drawing/2014/main" id="{B4994C8E-5CFD-30C2-CE69-BE2AD798FAD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8800772" y="24171522"/>
            <a:ext cx="2129956" cy="2129956"/>
          </a:xfrm>
          <a:prstGeom prst="rect">
            <a:avLst/>
          </a:prstGeom>
        </p:spPr>
      </p:pic>
      <p:sp>
        <p:nvSpPr>
          <p:cNvPr id="9" name="矩形: 圓角 8">
            <a:extLst>
              <a:ext uri="{FF2B5EF4-FFF2-40B4-BE49-F238E27FC236}">
                <a16:creationId xmlns:a16="http://schemas.microsoft.com/office/drawing/2014/main" id="{3AAEECE3-8CCD-8F75-48F9-AEA778A5D485}"/>
              </a:ext>
            </a:extLst>
          </p:cNvPr>
          <p:cNvSpPr/>
          <p:nvPr/>
        </p:nvSpPr>
        <p:spPr>
          <a:xfrm>
            <a:off x="695323" y="8426312"/>
            <a:ext cx="9513096" cy="6409371"/>
          </a:xfrm>
          <a:prstGeom prst="roundRect">
            <a:avLst/>
          </a:prstGeom>
          <a:noFill/>
          <a:ln w="1270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ea typeface="標楷體" panose="03000509000000000000" pitchFamily="65" charset="-120"/>
              <a:cs typeface="Arial" panose="020B0604020202020204" pitchFamily="34" charset="0"/>
            </a:endParaRPr>
          </a:p>
        </p:txBody>
      </p:sp>
      <p:sp>
        <p:nvSpPr>
          <p:cNvPr id="51" name="矩形 50">
            <a:extLst>
              <a:ext uri="{FF2B5EF4-FFF2-40B4-BE49-F238E27FC236}">
                <a16:creationId xmlns:a16="http://schemas.microsoft.com/office/drawing/2014/main" id="{0518E732-3CB2-4C92-7223-E616701B8DA5}"/>
              </a:ext>
            </a:extLst>
          </p:cNvPr>
          <p:cNvSpPr/>
          <p:nvPr/>
        </p:nvSpPr>
        <p:spPr>
          <a:xfrm>
            <a:off x="8982458" y="8381900"/>
            <a:ext cx="1419751" cy="67487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cxnSp>
        <p:nvCxnSpPr>
          <p:cNvPr id="84" name="直線接點 83">
            <a:extLst>
              <a:ext uri="{FF2B5EF4-FFF2-40B4-BE49-F238E27FC236}">
                <a16:creationId xmlns:a16="http://schemas.microsoft.com/office/drawing/2014/main" id="{4FDA6FDE-62F7-52AD-DB72-219940091B1E}"/>
              </a:ext>
            </a:extLst>
          </p:cNvPr>
          <p:cNvCxnSpPr>
            <a:cxnSpLocks/>
          </p:cNvCxnSpPr>
          <p:nvPr/>
        </p:nvCxnSpPr>
        <p:spPr>
          <a:xfrm>
            <a:off x="8828830" y="8426312"/>
            <a:ext cx="1379583" cy="1"/>
          </a:xfrm>
          <a:prstGeom prst="line">
            <a:avLst/>
          </a:prstGeom>
          <a:ln w="127000"/>
        </p:spPr>
        <p:style>
          <a:lnRef idx="1">
            <a:schemeClr val="accent1"/>
          </a:lnRef>
          <a:fillRef idx="0">
            <a:schemeClr val="accent1"/>
          </a:fillRef>
          <a:effectRef idx="0">
            <a:schemeClr val="accent1"/>
          </a:effectRef>
          <a:fontRef idx="minor">
            <a:schemeClr val="tx1"/>
          </a:fontRef>
        </p:style>
      </p:cxnSp>
      <p:grpSp>
        <p:nvGrpSpPr>
          <p:cNvPr id="35" name="群組 34">
            <a:extLst>
              <a:ext uri="{FF2B5EF4-FFF2-40B4-BE49-F238E27FC236}">
                <a16:creationId xmlns:a16="http://schemas.microsoft.com/office/drawing/2014/main" id="{60AD4F5F-FA24-E51B-58F9-E19B9590056A}"/>
              </a:ext>
            </a:extLst>
          </p:cNvPr>
          <p:cNvGrpSpPr/>
          <p:nvPr/>
        </p:nvGrpSpPr>
        <p:grpSpPr>
          <a:xfrm>
            <a:off x="1390651" y="8602315"/>
            <a:ext cx="8757438" cy="6031011"/>
            <a:chOff x="1894744" y="8995995"/>
            <a:chExt cx="7110589" cy="4823827"/>
          </a:xfrm>
        </p:grpSpPr>
        <p:pic>
          <p:nvPicPr>
            <p:cNvPr id="22" name="圖片 21">
              <a:extLst>
                <a:ext uri="{FF2B5EF4-FFF2-40B4-BE49-F238E27FC236}">
                  <a16:creationId xmlns:a16="http://schemas.microsoft.com/office/drawing/2014/main" id="{EC29B179-CAA7-E31B-AA7B-3F070EDF3B5D}"/>
                </a:ext>
              </a:extLst>
            </p:cNvPr>
            <p:cNvPicPr>
              <a:picLocks noChangeAspect="1"/>
            </p:cNvPicPr>
            <p:nvPr/>
          </p:nvPicPr>
          <p:blipFill rotWithShape="1">
            <a:blip r:embed="rId13">
              <a:extLst>
                <a:ext uri="{28A0092B-C50C-407E-A947-70E740481C1C}">
                  <a14:useLocalDpi xmlns:a14="http://schemas.microsoft.com/office/drawing/2010/main" val="0"/>
                </a:ext>
              </a:extLst>
            </a:blip>
            <a:srcRect l="1907" t="2850" r="1190" b="2837"/>
            <a:stretch>
              <a:fillRect/>
            </a:stretch>
          </p:blipFill>
          <p:spPr bwMode="auto">
            <a:xfrm>
              <a:off x="1894744" y="8995995"/>
              <a:ext cx="7110589" cy="4823827"/>
            </a:xfrm>
            <a:prstGeom prst="rect">
              <a:avLst/>
            </a:prstGeom>
            <a:noFill/>
            <a:ln>
              <a:noFill/>
            </a:ln>
            <a:extLst>
              <a:ext uri="{53640926-AAD7-44D8-BBD7-CCE9431645EC}">
                <a14:shadowObscured xmlns:a14="http://schemas.microsoft.com/office/drawing/2010/main"/>
              </a:ext>
            </a:extLst>
          </p:spPr>
        </p:pic>
        <p:sp>
          <p:nvSpPr>
            <p:cNvPr id="8" name="矩形 7">
              <a:extLst>
                <a:ext uri="{FF2B5EF4-FFF2-40B4-BE49-F238E27FC236}">
                  <a16:creationId xmlns:a16="http://schemas.microsoft.com/office/drawing/2014/main" id="{96D75105-AB3F-6FEA-202D-29F540956F7F}"/>
                </a:ext>
              </a:extLst>
            </p:cNvPr>
            <p:cNvSpPr/>
            <p:nvPr/>
          </p:nvSpPr>
          <p:spPr>
            <a:xfrm>
              <a:off x="4609660" y="12565111"/>
              <a:ext cx="655955" cy="17335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75000"/>
                </a:lnSpc>
                <a:spcAft>
                  <a:spcPts val="1000"/>
                </a:spcAft>
                <a:buNone/>
              </a:pPr>
              <a:r>
                <a:rPr lang="en-US" sz="700" dirty="0">
                  <a:solidFill>
                    <a:srgbClr val="000000"/>
                  </a:solidFill>
                  <a:effectLst/>
                  <a:latin typeface="Arial" panose="020B0604020202020204" pitchFamily="34" charset="0"/>
                  <a:ea typeface="微軟正黑體" panose="020B0604030504040204" pitchFamily="34" charset="-120"/>
                  <a:cs typeface="Arial" panose="020B0604020202020204" pitchFamily="34" charset="0"/>
                </a:rPr>
                <a:t> </a:t>
              </a:r>
              <a:endParaRPr lang="zh-TW" sz="1100" dirty="0">
                <a:effectLst/>
                <a:latin typeface="Arial" panose="020B0604020202020204" pitchFamily="34" charset="0"/>
                <a:ea typeface="MS Mincho" panose="02020609040205080304" pitchFamily="49" charset="-128"/>
                <a:cs typeface="Arial" panose="020B0604020202020204" pitchFamily="34" charset="0"/>
              </a:endParaRPr>
            </a:p>
          </p:txBody>
        </p:sp>
        <p:sp>
          <p:nvSpPr>
            <p:cNvPr id="19" name="矩形 18">
              <a:extLst>
                <a:ext uri="{FF2B5EF4-FFF2-40B4-BE49-F238E27FC236}">
                  <a16:creationId xmlns:a16="http://schemas.microsoft.com/office/drawing/2014/main" id="{37D85436-A0C0-F398-9CDE-958BA9D9167D}"/>
                </a:ext>
              </a:extLst>
            </p:cNvPr>
            <p:cNvSpPr/>
            <p:nvPr/>
          </p:nvSpPr>
          <p:spPr>
            <a:xfrm>
              <a:off x="4715603" y="12493752"/>
              <a:ext cx="655955" cy="3282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75000"/>
                </a:lnSpc>
                <a:buNone/>
              </a:pPr>
              <a:r>
                <a:rPr lang="en-US" sz="1000" dirty="0">
                  <a:solidFill>
                    <a:srgbClr val="000000"/>
                  </a:solidFill>
                  <a:effectLst/>
                  <a:latin typeface="Arial" panose="020B0604020202020204" pitchFamily="34" charset="0"/>
                  <a:ea typeface="微軟正黑體" panose="020B0604030504040204" pitchFamily="34" charset="-120"/>
                  <a:cs typeface="Arial" panose="020B0604020202020204" pitchFamily="34" charset="0"/>
                </a:rPr>
                <a:t>External</a:t>
              </a:r>
              <a:endParaRPr lang="zh-TW" sz="1000" dirty="0">
                <a:effectLst/>
                <a:latin typeface="Arial" panose="020B0604020202020204" pitchFamily="34" charset="0"/>
                <a:ea typeface="MS Mincho" panose="02020609040205080304" pitchFamily="49" charset="-128"/>
                <a:cs typeface="Arial" panose="020B0604020202020204" pitchFamily="34" charset="0"/>
              </a:endParaRPr>
            </a:p>
            <a:p>
              <a:pPr>
                <a:lnSpc>
                  <a:spcPct val="75000"/>
                </a:lnSpc>
                <a:buNone/>
              </a:pPr>
              <a:r>
                <a:rPr lang="en-US" sz="1000" dirty="0">
                  <a:solidFill>
                    <a:srgbClr val="000000"/>
                  </a:solidFill>
                  <a:effectLst/>
                  <a:latin typeface="Arial" panose="020B0604020202020204" pitchFamily="34" charset="0"/>
                  <a:ea typeface="微軟正黑體" panose="020B0604030504040204" pitchFamily="34" charset="-120"/>
                  <a:cs typeface="Arial" panose="020B0604020202020204" pitchFamily="34" charset="0"/>
                </a:rPr>
                <a:t>Interface</a:t>
              </a:r>
              <a:endParaRPr lang="zh-TW" sz="1000" dirty="0">
                <a:effectLst/>
                <a:latin typeface="Arial" panose="020B0604020202020204" pitchFamily="34" charset="0"/>
                <a:ea typeface="MS Mincho" panose="02020609040205080304" pitchFamily="49" charset="-128"/>
                <a:cs typeface="Arial" panose="020B0604020202020204" pitchFamily="34" charset="0"/>
              </a:endParaRPr>
            </a:p>
          </p:txBody>
        </p:sp>
        <p:sp>
          <p:nvSpPr>
            <p:cNvPr id="24" name="矩形 23">
              <a:extLst>
                <a:ext uri="{FF2B5EF4-FFF2-40B4-BE49-F238E27FC236}">
                  <a16:creationId xmlns:a16="http://schemas.microsoft.com/office/drawing/2014/main" id="{9FE8EF8B-15E6-4612-25CE-C0832C03AF68}"/>
                </a:ext>
              </a:extLst>
            </p:cNvPr>
            <p:cNvSpPr/>
            <p:nvPr/>
          </p:nvSpPr>
          <p:spPr>
            <a:xfrm>
              <a:off x="6826361" y="12560348"/>
              <a:ext cx="655955" cy="17335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75000"/>
                </a:lnSpc>
                <a:spcAft>
                  <a:spcPts val="1000"/>
                </a:spcAft>
                <a:buNone/>
              </a:pPr>
              <a:r>
                <a:rPr lang="en-US" sz="700" dirty="0">
                  <a:solidFill>
                    <a:srgbClr val="000000"/>
                  </a:solidFill>
                  <a:effectLst/>
                  <a:latin typeface="Arial" panose="020B0604020202020204" pitchFamily="34" charset="0"/>
                  <a:ea typeface="微軟正黑體" panose="020B0604030504040204" pitchFamily="34" charset="-120"/>
                  <a:cs typeface="Arial" panose="020B0604020202020204" pitchFamily="34" charset="0"/>
                </a:rPr>
                <a:t> </a:t>
              </a:r>
              <a:endParaRPr lang="zh-TW" sz="1100" dirty="0">
                <a:effectLst/>
                <a:latin typeface="Arial" panose="020B0604020202020204" pitchFamily="34" charset="0"/>
                <a:ea typeface="MS Mincho" panose="02020609040205080304" pitchFamily="49" charset="-128"/>
                <a:cs typeface="Arial" panose="020B0604020202020204" pitchFamily="34" charset="0"/>
              </a:endParaRPr>
            </a:p>
          </p:txBody>
        </p:sp>
        <p:sp>
          <p:nvSpPr>
            <p:cNvPr id="26" name="矩形 25">
              <a:extLst>
                <a:ext uri="{FF2B5EF4-FFF2-40B4-BE49-F238E27FC236}">
                  <a16:creationId xmlns:a16="http://schemas.microsoft.com/office/drawing/2014/main" id="{1175C2E8-7074-0C42-31DA-DDE8D7192361}"/>
                </a:ext>
              </a:extLst>
            </p:cNvPr>
            <p:cNvSpPr/>
            <p:nvPr/>
          </p:nvSpPr>
          <p:spPr>
            <a:xfrm>
              <a:off x="6932306" y="12488989"/>
              <a:ext cx="655955" cy="32829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75000"/>
                </a:lnSpc>
                <a:buNone/>
              </a:pPr>
              <a:r>
                <a:rPr lang="en-US" sz="1000" dirty="0">
                  <a:solidFill>
                    <a:srgbClr val="000000"/>
                  </a:solidFill>
                  <a:effectLst/>
                  <a:latin typeface="Arial" panose="020B0604020202020204" pitchFamily="34" charset="0"/>
                  <a:ea typeface="微軟正黑體" panose="020B0604030504040204" pitchFamily="34" charset="-120"/>
                  <a:cs typeface="Arial" panose="020B0604020202020204" pitchFamily="34" charset="0"/>
                </a:rPr>
                <a:t>External</a:t>
              </a:r>
              <a:endParaRPr lang="zh-TW" sz="1000" dirty="0">
                <a:effectLst/>
                <a:latin typeface="Arial" panose="020B0604020202020204" pitchFamily="34" charset="0"/>
                <a:ea typeface="MS Mincho" panose="02020609040205080304" pitchFamily="49" charset="-128"/>
                <a:cs typeface="Arial" panose="020B0604020202020204" pitchFamily="34" charset="0"/>
              </a:endParaRPr>
            </a:p>
            <a:p>
              <a:pPr>
                <a:lnSpc>
                  <a:spcPct val="75000"/>
                </a:lnSpc>
                <a:buNone/>
              </a:pPr>
              <a:r>
                <a:rPr lang="en-US" sz="1000" dirty="0">
                  <a:solidFill>
                    <a:srgbClr val="000000"/>
                  </a:solidFill>
                  <a:effectLst/>
                  <a:latin typeface="Arial" panose="020B0604020202020204" pitchFamily="34" charset="0"/>
                  <a:ea typeface="微軟正黑體" panose="020B0604030504040204" pitchFamily="34" charset="-120"/>
                  <a:cs typeface="Arial" panose="020B0604020202020204" pitchFamily="34" charset="0"/>
                </a:rPr>
                <a:t>Interface</a:t>
              </a:r>
              <a:endParaRPr lang="zh-TW" sz="1000" dirty="0">
                <a:effectLst/>
                <a:latin typeface="Arial" panose="020B0604020202020204" pitchFamily="34" charset="0"/>
                <a:ea typeface="MS Mincho" panose="02020609040205080304" pitchFamily="49" charset="-128"/>
                <a:cs typeface="Arial" panose="020B0604020202020204" pitchFamily="34" charset="0"/>
              </a:endParaRPr>
            </a:p>
          </p:txBody>
        </p:sp>
      </p:grpSp>
      <p:sp>
        <p:nvSpPr>
          <p:cNvPr id="75" name="星形: 四角 74">
            <a:extLst>
              <a:ext uri="{FF2B5EF4-FFF2-40B4-BE49-F238E27FC236}">
                <a16:creationId xmlns:a16="http://schemas.microsoft.com/office/drawing/2014/main" id="{2137168B-14E9-DDEE-A7AF-6F451768D755}"/>
              </a:ext>
            </a:extLst>
          </p:cNvPr>
          <p:cNvSpPr/>
          <p:nvPr/>
        </p:nvSpPr>
        <p:spPr>
          <a:xfrm>
            <a:off x="9527458" y="14280943"/>
            <a:ext cx="1059945" cy="1059945"/>
          </a:xfrm>
          <a:prstGeom prst="star4">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53" name="星形: 四角 52">
            <a:extLst>
              <a:ext uri="{FF2B5EF4-FFF2-40B4-BE49-F238E27FC236}">
                <a16:creationId xmlns:a16="http://schemas.microsoft.com/office/drawing/2014/main" id="{366E8C56-7E81-DDDC-B625-B3AD55FDD227}"/>
              </a:ext>
            </a:extLst>
          </p:cNvPr>
          <p:cNvSpPr/>
          <p:nvPr/>
        </p:nvSpPr>
        <p:spPr>
          <a:xfrm>
            <a:off x="10357862" y="7891012"/>
            <a:ext cx="1059945" cy="1059945"/>
          </a:xfrm>
          <a:prstGeom prst="star4">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cs typeface="Arial" panose="020B0604020202020204" pitchFamily="34" charset="0"/>
            </a:endParaRPr>
          </a:p>
        </p:txBody>
      </p:sp>
      <p:sp>
        <p:nvSpPr>
          <p:cNvPr id="15" name="六邊形 14">
            <a:extLst>
              <a:ext uri="{FF2B5EF4-FFF2-40B4-BE49-F238E27FC236}">
                <a16:creationId xmlns:a16="http://schemas.microsoft.com/office/drawing/2014/main" id="{FBD9357E-FFCE-B947-6BBB-FE4C569CC6A3}"/>
              </a:ext>
            </a:extLst>
          </p:cNvPr>
          <p:cNvSpPr/>
          <p:nvPr/>
        </p:nvSpPr>
        <p:spPr>
          <a:xfrm>
            <a:off x="3103953" y="7903766"/>
            <a:ext cx="4695830" cy="1061601"/>
          </a:xfrm>
          <a:prstGeom prst="hexag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5000" dirty="0">
                <a:latin typeface="Arial" panose="020B0604020202020204" pitchFamily="34" charset="0"/>
                <a:ea typeface="標楷體" panose="03000509000000000000" pitchFamily="65" charset="-120"/>
                <a:cs typeface="Arial" panose="020B0604020202020204" pitchFamily="34" charset="0"/>
              </a:rPr>
              <a:t>系統架構</a:t>
            </a:r>
          </a:p>
        </p:txBody>
      </p:sp>
      <p:sp>
        <p:nvSpPr>
          <p:cNvPr id="28" name="文字方塊 27">
            <a:extLst>
              <a:ext uri="{FF2B5EF4-FFF2-40B4-BE49-F238E27FC236}">
                <a16:creationId xmlns:a16="http://schemas.microsoft.com/office/drawing/2014/main" id="{EA6F92EE-5E80-B219-0C9B-F98BA4302854}"/>
              </a:ext>
            </a:extLst>
          </p:cNvPr>
          <p:cNvSpPr txBox="1"/>
          <p:nvPr/>
        </p:nvSpPr>
        <p:spPr>
          <a:xfrm>
            <a:off x="11714934" y="8623266"/>
            <a:ext cx="3598464" cy="646331"/>
          </a:xfrm>
          <a:prstGeom prst="rect">
            <a:avLst/>
          </a:prstGeom>
          <a:noFill/>
        </p:spPr>
        <p:txBody>
          <a:bodyPr wrap="square">
            <a:spAutoFit/>
          </a:bodyPr>
          <a:lstStyle/>
          <a:p>
            <a:r>
              <a:rPr lang="zh-TW" altLang="en-US" sz="3600" b="1" dirty="0">
                <a:latin typeface="Arial" panose="020B0604020202020204" pitchFamily="34" charset="0"/>
                <a:ea typeface="標楷體" panose="03000509000000000000" pitchFamily="65" charset="-120"/>
                <a:cs typeface="Arial" panose="020B0604020202020204" pitchFamily="34" charset="0"/>
              </a:rPr>
              <a:t>運作成果</a:t>
            </a:r>
          </a:p>
        </p:txBody>
      </p:sp>
      <p:sp>
        <p:nvSpPr>
          <p:cNvPr id="30" name="文字方塊 29">
            <a:extLst>
              <a:ext uri="{FF2B5EF4-FFF2-40B4-BE49-F238E27FC236}">
                <a16:creationId xmlns:a16="http://schemas.microsoft.com/office/drawing/2014/main" id="{D51F9D80-1C63-8F7B-C55B-9FDA31D28313}"/>
              </a:ext>
            </a:extLst>
          </p:cNvPr>
          <p:cNvSpPr txBox="1"/>
          <p:nvPr/>
        </p:nvSpPr>
        <p:spPr>
          <a:xfrm>
            <a:off x="11778651" y="18332964"/>
            <a:ext cx="3598464" cy="646331"/>
          </a:xfrm>
          <a:prstGeom prst="rect">
            <a:avLst/>
          </a:prstGeom>
          <a:noFill/>
        </p:spPr>
        <p:txBody>
          <a:bodyPr wrap="square">
            <a:spAutoFit/>
          </a:bodyPr>
          <a:lstStyle/>
          <a:p>
            <a:r>
              <a:rPr lang="zh-TW" altLang="en-US" sz="3600" b="1" dirty="0">
                <a:latin typeface="Arial" panose="020B0604020202020204" pitchFamily="34" charset="0"/>
                <a:ea typeface="標楷體" panose="03000509000000000000" pitchFamily="65" charset="-120"/>
                <a:cs typeface="Arial" panose="020B0604020202020204" pitchFamily="34" charset="0"/>
              </a:rPr>
              <a:t>硬體實作成果</a:t>
            </a:r>
          </a:p>
        </p:txBody>
      </p:sp>
      <p:sp>
        <p:nvSpPr>
          <p:cNvPr id="14" name="文字方塊 13">
            <a:extLst>
              <a:ext uri="{FF2B5EF4-FFF2-40B4-BE49-F238E27FC236}">
                <a16:creationId xmlns:a16="http://schemas.microsoft.com/office/drawing/2014/main" id="{CC91E37C-431C-19FD-BDB0-2629416A5438}"/>
              </a:ext>
            </a:extLst>
          </p:cNvPr>
          <p:cNvSpPr txBox="1"/>
          <p:nvPr/>
        </p:nvSpPr>
        <p:spPr>
          <a:xfrm>
            <a:off x="11773928" y="9195035"/>
            <a:ext cx="8303740" cy="13880723"/>
          </a:xfrm>
          <a:prstGeom prst="rect">
            <a:avLst/>
          </a:prstGeom>
          <a:noFill/>
        </p:spPr>
        <p:txBody>
          <a:bodyPr wrap="square" rtlCol="0">
            <a:spAutoFit/>
          </a:bodyPr>
          <a:lstStyle/>
          <a:p>
            <a:r>
              <a:rPr lang="zh-TW" altLang="en-US" sz="3200" dirty="0">
                <a:latin typeface="Arial" panose="020B0604020202020204" pitchFamily="34" charset="0"/>
                <a:ea typeface="標楷體" panose="03000509000000000000" pitchFamily="65" charset="-120"/>
                <a:cs typeface="Arial" panose="020B0604020202020204" pitchFamily="34" charset="0"/>
              </a:rPr>
              <a:t>　　球場使用</a:t>
            </a:r>
            <a:r>
              <a:rPr lang="en-US" altLang="zh-TW" sz="3200" dirty="0">
                <a:latin typeface="Arial" panose="020B0604020202020204" pitchFamily="34" charset="0"/>
                <a:ea typeface="標楷體" panose="03000509000000000000" pitchFamily="65" charset="-120"/>
                <a:cs typeface="Arial" panose="020B0604020202020204" pitchFamily="34" charset="0"/>
              </a:rPr>
              <a:t>SLAM</a:t>
            </a:r>
            <a:r>
              <a:rPr lang="zh-TW" altLang="en-US" sz="3200" dirty="0">
                <a:latin typeface="Arial" panose="020B0604020202020204" pitchFamily="34" charset="0"/>
                <a:ea typeface="標楷體" panose="03000509000000000000" pitchFamily="65" charset="-120"/>
                <a:cs typeface="Arial" panose="020B0604020202020204" pitchFamily="34" charset="0"/>
              </a:rPr>
              <a:t>工具掃描出地圖後，切換模式即可使用機器學習在膨脹後的地圖上依據地圖大小聚集相應的巡邏點量，並排序最佳的巡邏路徑。</a:t>
            </a:r>
            <a:endParaRPr lang="en-US" altLang="zh-TW" sz="3200" dirty="0">
              <a:latin typeface="Arial" panose="020B0604020202020204" pitchFamily="34" charset="0"/>
              <a:ea typeface="標楷體" panose="03000509000000000000" pitchFamily="65" charset="-120"/>
              <a:cs typeface="Arial" panose="020B0604020202020204" pitchFamily="34" charset="0"/>
            </a:endParaRPr>
          </a:p>
          <a:p>
            <a:r>
              <a:rPr lang="zh-TW" altLang="en-US" sz="3200" dirty="0">
                <a:latin typeface="Arial" panose="020B0604020202020204" pitchFamily="34" charset="0"/>
                <a:ea typeface="標楷體" panose="03000509000000000000" pitchFamily="65" charset="-120"/>
                <a:cs typeface="Arial" panose="020B0604020202020204" pitchFamily="34" charset="0"/>
              </a:rPr>
              <a:t>　　巡邏過程中時刻使用編碼器馬達和光達及</a:t>
            </a:r>
            <a:r>
              <a:rPr lang="en-US" altLang="zh-TW" sz="3200" dirty="0">
                <a:latin typeface="Arial" panose="020B0604020202020204" pitchFamily="34" charset="0"/>
                <a:ea typeface="標楷體" panose="03000509000000000000" pitchFamily="65" charset="-120"/>
                <a:cs typeface="Arial" panose="020B0604020202020204" pitchFamily="34" charset="0"/>
              </a:rPr>
              <a:t>IMU</a:t>
            </a:r>
            <a:r>
              <a:rPr lang="zh-TW" altLang="en-US" sz="3200" dirty="0">
                <a:latin typeface="Arial" panose="020B0604020202020204" pitchFamily="34" charset="0"/>
                <a:ea typeface="標楷體" panose="03000509000000000000" pitchFamily="65" charset="-120"/>
                <a:cs typeface="Arial" panose="020B0604020202020204" pitchFamily="34" charset="0"/>
              </a:rPr>
              <a:t>等元件調整並配合</a:t>
            </a:r>
            <a:r>
              <a:rPr lang="en-US" altLang="zh-TW" sz="3200" dirty="0">
                <a:latin typeface="Arial" panose="020B0604020202020204" pitchFamily="34" charset="0"/>
                <a:ea typeface="標楷體" panose="03000509000000000000" pitchFamily="65" charset="-120"/>
                <a:cs typeface="Arial" panose="020B0604020202020204" pitchFamily="34" charset="0"/>
              </a:rPr>
              <a:t>ROS</a:t>
            </a:r>
            <a:r>
              <a:rPr lang="zh-TW" altLang="en-US" sz="3200" dirty="0">
                <a:latin typeface="Arial" panose="020B0604020202020204" pitchFamily="34" charset="0"/>
                <a:ea typeface="標楷體" panose="03000509000000000000" pitchFamily="65" charset="-120"/>
                <a:cs typeface="Arial" panose="020B0604020202020204" pitchFamily="34" charset="0"/>
              </a:rPr>
              <a:t> </a:t>
            </a:r>
            <a:r>
              <a:rPr lang="en-US" altLang="zh-TW" sz="3200" dirty="0">
                <a:latin typeface="Arial" panose="020B0604020202020204" pitchFamily="34" charset="0"/>
                <a:ea typeface="標楷體" panose="03000509000000000000" pitchFamily="65" charset="-120"/>
                <a:cs typeface="Arial" panose="020B0604020202020204" pitchFamily="34" charset="0"/>
              </a:rPr>
              <a:t>Navigation</a:t>
            </a:r>
            <a:r>
              <a:rPr lang="zh-TW" altLang="en-US" sz="3200" dirty="0">
                <a:latin typeface="Arial" panose="020B0604020202020204" pitchFamily="34" charset="0"/>
                <a:ea typeface="標楷體" panose="03000509000000000000" pitchFamily="65" charset="-120"/>
                <a:cs typeface="Arial" panose="020B0604020202020204" pitchFamily="34" charset="0"/>
              </a:rPr>
              <a:t>系統，同時利用</a:t>
            </a:r>
            <a:r>
              <a:rPr lang="en-US" altLang="zh-TW" sz="3200" dirty="0">
                <a:latin typeface="Arial" panose="020B0604020202020204" pitchFamily="34" charset="0"/>
                <a:ea typeface="標楷體" panose="03000509000000000000" pitchFamily="65" charset="-120"/>
                <a:cs typeface="Arial" panose="020B0604020202020204" pitchFamily="34" charset="0"/>
              </a:rPr>
              <a:t>YOLOv8</a:t>
            </a:r>
            <a:r>
              <a:rPr lang="zh-TW" altLang="en-US" sz="3200" dirty="0">
                <a:latin typeface="Arial" panose="020B0604020202020204" pitchFamily="34" charset="0"/>
                <a:ea typeface="標楷體" panose="03000509000000000000" pitchFamily="65" charset="-120"/>
                <a:cs typeface="Arial" panose="020B0604020202020204" pitchFamily="34" charset="0"/>
              </a:rPr>
              <a:t> 模型建立視覺辨識系統，捕捉標記射向範圍內的羽球並規劃收集。</a:t>
            </a:r>
            <a:endParaRPr lang="en-US" altLang="zh-TW" sz="3200" dirty="0">
              <a:latin typeface="Arial" panose="020B0604020202020204" pitchFamily="34" charset="0"/>
              <a:ea typeface="標楷體" panose="03000509000000000000" pitchFamily="65" charset="-120"/>
              <a:cs typeface="Arial" panose="020B0604020202020204" pitchFamily="34" charset="0"/>
            </a:endParaRPr>
          </a:p>
          <a:p>
            <a:endParaRPr lang="en-US" altLang="zh-TW" sz="3200" dirty="0">
              <a:latin typeface="Arial" panose="020B0604020202020204" pitchFamily="34" charset="0"/>
              <a:ea typeface="標楷體" panose="03000509000000000000" pitchFamily="65" charset="-120"/>
              <a:cs typeface="Arial" panose="020B0604020202020204" pitchFamily="34" charset="0"/>
            </a:endParaRPr>
          </a:p>
          <a:p>
            <a:endParaRPr lang="en-US" altLang="zh-TW" sz="3200" dirty="0">
              <a:latin typeface="Arial" panose="020B0604020202020204" pitchFamily="34" charset="0"/>
              <a:ea typeface="標楷體" panose="03000509000000000000" pitchFamily="65" charset="-120"/>
              <a:cs typeface="Arial" panose="020B0604020202020204" pitchFamily="34" charset="0"/>
            </a:endParaRPr>
          </a:p>
          <a:p>
            <a:endParaRPr lang="en-US" altLang="zh-TW" sz="3200" dirty="0">
              <a:latin typeface="Arial" panose="020B0604020202020204" pitchFamily="34" charset="0"/>
              <a:ea typeface="標楷體" panose="03000509000000000000" pitchFamily="65" charset="-120"/>
              <a:cs typeface="Arial" panose="020B0604020202020204" pitchFamily="34" charset="0"/>
            </a:endParaRPr>
          </a:p>
          <a:p>
            <a:endParaRPr lang="en-US" altLang="zh-TW" sz="3200" dirty="0">
              <a:latin typeface="Arial" panose="020B0604020202020204" pitchFamily="34" charset="0"/>
              <a:ea typeface="標楷體" panose="03000509000000000000" pitchFamily="65" charset="-120"/>
              <a:cs typeface="Arial" panose="020B0604020202020204" pitchFamily="34" charset="0"/>
            </a:endParaRPr>
          </a:p>
          <a:p>
            <a:endParaRPr lang="en-US" altLang="zh-TW" sz="3200" dirty="0">
              <a:latin typeface="Arial" panose="020B0604020202020204" pitchFamily="34" charset="0"/>
              <a:ea typeface="標楷體" panose="03000509000000000000" pitchFamily="65" charset="-120"/>
              <a:cs typeface="Arial" panose="020B0604020202020204" pitchFamily="34" charset="0"/>
            </a:endParaRPr>
          </a:p>
          <a:p>
            <a:endParaRPr lang="en-US" altLang="zh-TW" sz="3200" dirty="0">
              <a:latin typeface="Arial" panose="020B0604020202020204" pitchFamily="34" charset="0"/>
              <a:ea typeface="標楷體" panose="03000509000000000000" pitchFamily="65" charset="-120"/>
              <a:cs typeface="Arial" panose="020B0604020202020204" pitchFamily="34" charset="0"/>
            </a:endParaRPr>
          </a:p>
          <a:p>
            <a:endParaRPr lang="en-US" altLang="zh-TW" sz="3200" dirty="0">
              <a:latin typeface="Arial" panose="020B0604020202020204" pitchFamily="34" charset="0"/>
              <a:ea typeface="標楷體" panose="03000509000000000000" pitchFamily="65" charset="-120"/>
              <a:cs typeface="Arial" panose="020B0604020202020204" pitchFamily="34" charset="0"/>
            </a:endParaRPr>
          </a:p>
          <a:p>
            <a:endParaRPr lang="en-US" altLang="zh-TW" sz="3200" dirty="0">
              <a:latin typeface="Arial" panose="020B0604020202020204" pitchFamily="34" charset="0"/>
              <a:ea typeface="標楷體" panose="03000509000000000000" pitchFamily="65" charset="-120"/>
              <a:cs typeface="Arial" panose="020B0604020202020204" pitchFamily="34" charset="0"/>
            </a:endParaRPr>
          </a:p>
          <a:p>
            <a:endParaRPr lang="en-US" altLang="zh-TW" sz="3200" dirty="0">
              <a:latin typeface="Arial" panose="020B0604020202020204" pitchFamily="34" charset="0"/>
              <a:ea typeface="標楷體" panose="03000509000000000000" pitchFamily="65" charset="-120"/>
              <a:cs typeface="Arial" panose="020B0604020202020204" pitchFamily="34" charset="0"/>
            </a:endParaRPr>
          </a:p>
          <a:p>
            <a:endParaRPr lang="en-US" altLang="zh-TW" sz="3200" dirty="0">
              <a:latin typeface="Arial" panose="020B0604020202020204" pitchFamily="34" charset="0"/>
              <a:ea typeface="標楷體" panose="03000509000000000000" pitchFamily="65" charset="-120"/>
              <a:cs typeface="Arial" panose="020B0604020202020204" pitchFamily="34" charset="0"/>
            </a:endParaRPr>
          </a:p>
          <a:p>
            <a:endParaRPr lang="en-US" altLang="zh-TW" sz="3200" dirty="0">
              <a:latin typeface="Arial" panose="020B0604020202020204" pitchFamily="34" charset="0"/>
              <a:ea typeface="標楷體" panose="03000509000000000000" pitchFamily="65" charset="-120"/>
              <a:cs typeface="Arial" panose="020B0604020202020204" pitchFamily="34" charset="0"/>
            </a:endParaRPr>
          </a:p>
          <a:p>
            <a:r>
              <a:rPr lang="zh-TW" altLang="en-US" sz="3200" dirty="0">
                <a:latin typeface="Arial" panose="020B0604020202020204" pitchFamily="34" charset="0"/>
                <a:ea typeface="標楷體" panose="03000509000000000000" pitchFamily="65" charset="-120"/>
                <a:cs typeface="Arial" panose="020B0604020202020204" pitchFamily="34" charset="0"/>
              </a:rPr>
              <a:t>　　</a:t>
            </a:r>
            <a:endParaRPr lang="en-US" altLang="zh-TW" sz="3200" dirty="0">
              <a:latin typeface="Arial" panose="020B0604020202020204" pitchFamily="34" charset="0"/>
              <a:ea typeface="標楷體" panose="03000509000000000000" pitchFamily="65" charset="-120"/>
              <a:cs typeface="Arial" panose="020B0604020202020204" pitchFamily="34" charset="0"/>
            </a:endParaRPr>
          </a:p>
          <a:p>
            <a:r>
              <a:rPr lang="zh-TW" altLang="en-US" sz="3200" dirty="0">
                <a:latin typeface="Arial" panose="020B0604020202020204" pitchFamily="34" charset="0"/>
                <a:ea typeface="標楷體" panose="03000509000000000000" pitchFamily="65" charset="-120"/>
                <a:cs typeface="Arial" panose="020B0604020202020204" pitchFamily="34" charset="0"/>
              </a:rPr>
              <a:t>　　運用</a:t>
            </a:r>
            <a:r>
              <a:rPr lang="en-US" altLang="zh-TW" sz="3200" dirty="0">
                <a:latin typeface="Arial" panose="020B0604020202020204" pitchFamily="34" charset="0"/>
                <a:ea typeface="標楷體" panose="03000509000000000000" pitchFamily="65" charset="-120"/>
                <a:cs typeface="Arial" panose="020B0604020202020204" pitchFamily="34" charset="0"/>
              </a:rPr>
              <a:t>PLA</a:t>
            </a:r>
            <a:r>
              <a:rPr lang="zh-TW" altLang="en-US" sz="3200" dirty="0">
                <a:latin typeface="Arial" panose="020B0604020202020204" pitchFamily="34" charset="0"/>
                <a:ea typeface="標楷體" panose="03000509000000000000" pitchFamily="65" charset="-120"/>
                <a:cs typeface="Arial" panose="020B0604020202020204" pitchFamily="34" charset="0"/>
              </a:rPr>
              <a:t>、</a:t>
            </a:r>
            <a:r>
              <a:rPr lang="en-US" altLang="zh-TW" sz="3200" dirty="0">
                <a:latin typeface="Arial" panose="020B0604020202020204" pitchFamily="34" charset="0"/>
                <a:ea typeface="標楷體" panose="03000509000000000000" pitchFamily="65" charset="-120"/>
                <a:cs typeface="Arial" panose="020B0604020202020204" pitchFamily="34" charset="0"/>
              </a:rPr>
              <a:t>TPU</a:t>
            </a:r>
            <a:r>
              <a:rPr lang="zh-TW" altLang="en-US" sz="3200" dirty="0">
                <a:latin typeface="Arial" panose="020B0604020202020204" pitchFamily="34" charset="0"/>
                <a:ea typeface="標楷體" panose="03000509000000000000" pitchFamily="65" charset="-120"/>
                <a:cs typeface="Arial" panose="020B0604020202020204" pitchFamily="34" charset="0"/>
              </a:rPr>
              <a:t>不同材料列印製作客製化硬體支撐，並利用壓克力與鋁擠等材料製作車架，設計製作出具收集系統的自走車。</a:t>
            </a:r>
            <a:endParaRPr lang="en-US" altLang="zh-TW" sz="3200" dirty="0">
              <a:latin typeface="Arial" panose="020B0604020202020204" pitchFamily="34" charset="0"/>
              <a:ea typeface="標楷體" panose="03000509000000000000" pitchFamily="65" charset="-120"/>
              <a:cs typeface="Arial" panose="020B0604020202020204" pitchFamily="34" charset="0"/>
            </a:endParaRPr>
          </a:p>
          <a:p>
            <a:r>
              <a:rPr lang="zh-TW" altLang="en-US" sz="3200" dirty="0">
                <a:latin typeface="Arial" panose="020B0604020202020204" pitchFamily="34" charset="0"/>
                <a:ea typeface="標楷體" panose="03000509000000000000" pitchFamily="65" charset="-120"/>
                <a:cs typeface="Arial" panose="020B0604020202020204" pitchFamily="34" charset="0"/>
              </a:rPr>
              <a:t>　　</a:t>
            </a:r>
            <a:r>
              <a:rPr lang="en-US" altLang="zh-TW" sz="3200" dirty="0">
                <a:latin typeface="Arial" panose="020B0604020202020204" pitchFamily="34" charset="0"/>
                <a:ea typeface="標楷體" panose="03000509000000000000" pitchFamily="65" charset="-120"/>
                <a:cs typeface="Arial" panose="020B0604020202020204" pitchFamily="34" charset="0"/>
              </a:rPr>
              <a:t>Xavier</a:t>
            </a:r>
            <a:r>
              <a:rPr lang="zh-TW" altLang="en-US" sz="3200" dirty="0">
                <a:latin typeface="Arial" panose="020B0604020202020204" pitchFamily="34" charset="0"/>
                <a:ea typeface="標楷體" panose="03000509000000000000" pitchFamily="65" charset="-120"/>
                <a:cs typeface="Arial" panose="020B0604020202020204" pitchFamily="34" charset="0"/>
              </a:rPr>
              <a:t>作為</a:t>
            </a:r>
            <a:r>
              <a:rPr lang="en-US" altLang="zh-TW" sz="3200" dirty="0">
                <a:latin typeface="Arial" panose="020B0604020202020204" pitchFamily="34" charset="0"/>
                <a:ea typeface="標楷體" panose="03000509000000000000" pitchFamily="65" charset="-120"/>
                <a:cs typeface="Arial" panose="020B0604020202020204" pitchFamily="34" charset="0"/>
              </a:rPr>
              <a:t>ROS2</a:t>
            </a:r>
            <a:r>
              <a:rPr lang="zh-TW" altLang="en-US" sz="3200" dirty="0">
                <a:latin typeface="Arial" panose="020B0604020202020204" pitchFamily="34" charset="0"/>
                <a:ea typeface="標楷體" panose="03000509000000000000" pitchFamily="65" charset="-120"/>
                <a:cs typeface="Arial" panose="020B0604020202020204" pitchFamily="34" charset="0"/>
              </a:rPr>
              <a:t>運行的平台，可以同時應付深度學習與機器學習等大量計算的系統內容，而驅動使用</a:t>
            </a:r>
            <a:r>
              <a:rPr lang="en-US" altLang="zh-TW" sz="3200" dirty="0">
                <a:latin typeface="Arial" panose="020B0604020202020204" pitchFamily="34" charset="0"/>
                <a:ea typeface="標楷體" panose="03000509000000000000" pitchFamily="65" charset="-120"/>
                <a:cs typeface="Arial" panose="020B0604020202020204" pitchFamily="34" charset="0"/>
              </a:rPr>
              <a:t>STM32</a:t>
            </a:r>
            <a:r>
              <a:rPr lang="zh-TW" altLang="en-US" sz="3200" dirty="0">
                <a:latin typeface="Arial" panose="020B0604020202020204" pitchFamily="34" charset="0"/>
                <a:ea typeface="標楷體" panose="03000509000000000000" pitchFamily="65" charset="-120"/>
                <a:cs typeface="Arial" panose="020B0604020202020204" pitchFamily="34" charset="0"/>
              </a:rPr>
              <a:t>作為轉譯輸出與搖桿的控制平台。</a:t>
            </a:r>
            <a:endParaRPr lang="en-US" altLang="zh-TW" sz="3200" dirty="0">
              <a:latin typeface="Arial" panose="020B0604020202020204" pitchFamily="34" charset="0"/>
              <a:ea typeface="標楷體" panose="03000509000000000000" pitchFamily="65" charset="-120"/>
              <a:cs typeface="Arial" panose="020B0604020202020204" pitchFamily="34" charset="0"/>
            </a:endParaRPr>
          </a:p>
        </p:txBody>
      </p:sp>
    </p:spTree>
    <p:extLst>
      <p:ext uri="{BB962C8B-B14F-4D97-AF65-F5344CB8AC3E}">
        <p14:creationId xmlns:p14="http://schemas.microsoft.com/office/powerpoint/2010/main" val="3826441463"/>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555</TotalTime>
  <Words>603</Words>
  <Application>Microsoft Office PowerPoint</Application>
  <PresentationFormat>自訂</PresentationFormat>
  <Paragraphs>61</Paragraphs>
  <Slides>1</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vt:i4>
      </vt:variant>
    </vt:vector>
  </HeadingPairs>
  <TitlesOfParts>
    <vt:vector size="7" baseType="lpstr">
      <vt:lpstr>Arial</vt:lpstr>
      <vt:lpstr>Calibri</vt:lpstr>
      <vt:lpstr>Calibri Light</vt:lpstr>
      <vt:lpstr>Cambria Math</vt:lpstr>
      <vt:lpstr>Wingdings</vt:lpstr>
      <vt:lpstr>Office 佈景主題</vt:lpstr>
      <vt:lpstr>ROS2 Intelligent Shuttlecock Collection Robot：Integrating  Machine Learning Navigation and Deep Learning Object Detection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啟軒 高</dc:creator>
  <cp:lastModifiedBy>啟軒 高</cp:lastModifiedBy>
  <cp:revision>85</cp:revision>
  <dcterms:created xsi:type="dcterms:W3CDTF">2025-10-19T13:26:15Z</dcterms:created>
  <dcterms:modified xsi:type="dcterms:W3CDTF">2025-11-21T14:28:44Z</dcterms:modified>
</cp:coreProperties>
</file>